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457200"/>
            <a:ext cx="2743200" cy="2286000"/>
          </a:xfrm>
          <a:prstGeom prst="rect">
            <a:avLst/>
          </a:prstGeom>
          <a:solidFill>
            <a:srgbClr val="B4D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/>
              <a:t>Year 1</a:t>
            </a:r>
          </a:p>
          <a:p>
            <a:r>
              <a:rPr sz="1200" b="1"/>
              <a:t>EESC 101</a:t>
            </a:r>
          </a:p>
          <a:p>
            <a:r>
              <a:rPr sz="1200" b="1"/>
              <a:t>EESC 111</a:t>
            </a:r>
          </a:p>
          <a:p>
            <a:r>
              <a:rPr sz="1200" b="1"/>
              <a:t>BIOL 116</a:t>
            </a:r>
          </a:p>
          <a:p>
            <a:r>
              <a:rPr sz="1200" b="1"/>
              <a:t>CHEM 113</a:t>
            </a:r>
          </a:p>
          <a:p>
            <a:r>
              <a:rPr sz="1200" b="1"/>
              <a:t>MATH 100</a:t>
            </a:r>
          </a:p>
          <a:p>
            <a:r>
              <a:rPr sz="1200" b="1"/>
              <a:t>STAT/COSC/DATA elective</a:t>
            </a:r>
          </a:p>
          <a:p>
            <a:r>
              <a:rPr sz="1200" b="1"/>
              <a:t>+ 3 credits Indigenous + 6 credits non-science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57200"/>
            <a:ext cx="2743200" cy="2286000"/>
          </a:xfrm>
          <a:prstGeom prst="rect">
            <a:avLst/>
          </a:prstGeom>
          <a:solidFill>
            <a:srgbClr val="C8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/>
              <a:t>Year 2</a:t>
            </a:r>
          </a:p>
          <a:p>
            <a:r>
              <a:rPr sz="1200" b="1"/>
              <a:t>EESC 205 Hydrology</a:t>
            </a:r>
          </a:p>
          <a:p>
            <a:r>
              <a:rPr sz="1200" b="1"/>
              <a:t>EESC 212 Atmospheric Environments</a:t>
            </a:r>
          </a:p>
          <a:p>
            <a:r>
              <a:rPr sz="1200" b="1"/>
              <a:t>EESC 222 Geomorphology</a:t>
            </a:r>
          </a:p>
          <a:p>
            <a:r>
              <a:rPr sz="1200" b="1"/>
              <a:t>BIOL 201</a:t>
            </a:r>
          </a:p>
          <a:p>
            <a:r>
              <a:rPr sz="1200" b="1"/>
              <a:t>CHEM 211</a:t>
            </a:r>
          </a:p>
          <a:p>
            <a:r>
              <a:rPr sz="1200" b="1"/>
              <a:t>+ 6 credits electives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3200400"/>
            <a:ext cx="2743200" cy="2743200"/>
          </a:xfrm>
          <a:prstGeom prst="rect">
            <a:avLst/>
          </a:prstGeom>
          <a:solidFill>
            <a:srgbClr val="FFE6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/>
              <a:t>Year 3</a:t>
            </a:r>
          </a:p>
          <a:p>
            <a:r>
              <a:rPr sz="1200" b="1"/>
              <a:t>EESC 301 Limnology</a:t>
            </a:r>
          </a:p>
          <a:p>
            <a:r>
              <a:rPr sz="1200" b="1"/>
              <a:t>EESC 309 Biogeochemistry</a:t>
            </a:r>
          </a:p>
          <a:p>
            <a:r>
              <a:rPr sz="1200" b="1"/>
              <a:t>EESC 342 Hydrogeology</a:t>
            </a:r>
          </a:p>
          <a:p>
            <a:r>
              <a:rPr sz="1200" b="1"/>
              <a:t>BIOL 375 Flora &amp; Fauna Inland Waters</a:t>
            </a:r>
          </a:p>
          <a:p>
            <a:r>
              <a:rPr sz="1200" b="1"/>
              <a:t>CHEM 301 Aqueous Env Chem</a:t>
            </a:r>
          </a:p>
          <a:p>
            <a:r>
              <a:rPr sz="1200" b="1"/>
              <a:t>+ 6 credits upper-level electives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200400"/>
            <a:ext cx="2743200" cy="2743200"/>
          </a:xfrm>
          <a:prstGeom prst="rect">
            <a:avLst/>
          </a:prstGeom>
          <a:solidFill>
            <a:srgbClr val="FF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/>
              <a:t>Year 4</a:t>
            </a:r>
          </a:p>
          <a:p>
            <a:r>
              <a:rPr sz="1200" b="1"/>
              <a:t>EESC 402 Freshwater Resources</a:t>
            </a:r>
          </a:p>
          <a:p>
            <a:r>
              <a:rPr sz="1200" b="1"/>
              <a:t>EESC 413 Analytical Hydrology</a:t>
            </a:r>
          </a:p>
          <a:p>
            <a:r>
              <a:rPr sz="1200" b="1"/>
              <a:t>EESC 423 Tracers of Processes</a:t>
            </a:r>
          </a:p>
          <a:p>
            <a:r>
              <a:rPr sz="1200" b="1"/>
              <a:t>EESC 435 Fluvial Techniques</a:t>
            </a:r>
          </a:p>
          <a:p>
            <a:r>
              <a:rPr sz="1200" b="1"/>
              <a:t>EESC 436 Coastal Geomorphology</a:t>
            </a:r>
          </a:p>
          <a:p>
            <a:r>
              <a:rPr sz="1200" b="1"/>
              <a:t>Option: EESC 449 Honours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6400800"/>
            <a:ext cx="2743200" cy="18288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00" b="1"/>
              <a:t>Summer/Enrichment:</a:t>
            </a:r>
          </a:p>
          <a:p>
            <a:r>
              <a:rPr sz="1200" b="1"/>
              <a:t>Hydrometric Micro-Credential</a:t>
            </a:r>
          </a:p>
          <a:p>
            <a:r>
              <a:rPr sz="1200" b="1"/>
              <a:t>Electrofishing Certificate</a:t>
            </a:r>
          </a:p>
          <a:p>
            <a:r>
              <a:rPr sz="1200" b="1"/>
              <a:t>GIS/Remote Sensing Workshop</a:t>
            </a:r>
          </a:p>
          <a:p>
            <a:r>
              <a:rPr sz="1200" b="1"/>
              <a:t>Go Global / Co-op / NSERC USRA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