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274320"/>
            <a:ext cx="2743200" cy="2011680"/>
          </a:xfrm>
          <a:prstGeom prst="rect">
            <a:avLst/>
          </a:prstGeom>
          <a:solidFill>
            <a:srgbClr val="A6CEE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defRPr sz="1100" b="1"/>
            </a:pPr>
            <a:r>
              <a:t>Year 1</a:t>
            </a:r>
            <a:br/>
            <a:r>
              <a:t>EESC 101, EESC 111</a:t>
            </a:r>
            <a:br/>
            <a:r>
              <a:t>BIOL 116, CHEM 113</a:t>
            </a:r>
            <a:br/>
            <a:r>
              <a:t>MATH 100 + STAT/COSC/DATA elective</a:t>
            </a:r>
            <a:br/>
            <a:r>
              <a:t>+ 3 cr Indigenous, 6 cr Non-Science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74320"/>
            <a:ext cx="2743200" cy="2011680"/>
          </a:xfrm>
          <a:prstGeom prst="rect">
            <a:avLst/>
          </a:prstGeom>
          <a:solidFill>
            <a:srgbClr val="B2DF8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defRPr sz="1100" b="1"/>
            </a:pPr>
            <a:r>
              <a:t>Year 2</a:t>
            </a:r>
            <a:br/>
            <a:r>
              <a:t>EESC 205 Hydrology</a:t>
            </a:r>
            <a:br/>
            <a:r>
              <a:t>EESC 212 Atmospheric Environments</a:t>
            </a:r>
            <a:br/>
            <a:r>
              <a:t>EESC 222 Geomorphology</a:t>
            </a:r>
            <a:br/>
            <a:r>
              <a:t>BIOL 201, CHEM 211</a:t>
            </a:r>
            <a:br/>
            <a:r>
              <a:t>+ Electives (6 cr)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2743200"/>
            <a:ext cx="2743200" cy="2286000"/>
          </a:xfrm>
          <a:prstGeom prst="rect">
            <a:avLst/>
          </a:prstGeom>
          <a:solidFill>
            <a:srgbClr val="FB9A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defRPr sz="1100" b="1"/>
            </a:pPr>
            <a:r>
              <a:t>Year 3</a:t>
            </a:r>
            <a:br/>
            <a:r>
              <a:t>EESC 301 Limnology</a:t>
            </a:r>
            <a:br/>
            <a:r>
              <a:t>EESC 309 Biogeochemistry</a:t>
            </a:r>
            <a:br/>
            <a:r>
              <a:t>EESC 342 Hydrogeology</a:t>
            </a:r>
            <a:br/>
            <a:r>
              <a:t>BIOL 375, CHEM 301</a:t>
            </a:r>
            <a:br/>
            <a:r>
              <a:t>+ Upper-level electives (6 cr)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743200"/>
            <a:ext cx="2743200" cy="2743200"/>
          </a:xfrm>
          <a:prstGeom prst="rect">
            <a:avLst/>
          </a:prstGeom>
          <a:solidFill>
            <a:srgbClr val="FDBF6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defRPr sz="1100" b="1"/>
            </a:pPr>
            <a:r>
              <a:t>Year 4</a:t>
            </a:r>
            <a:br/>
            <a:r>
              <a:t>EESC 402 Freshwater Resources</a:t>
            </a:r>
            <a:br/>
            <a:r>
              <a:t>EESC 413 Analytical Hydrology</a:t>
            </a:r>
            <a:br/>
            <a:r>
              <a:t>EESC 423 Tracers of Processes</a:t>
            </a:r>
            <a:br/>
            <a:r>
              <a:t>EESC 435 Fluvial Techniques</a:t>
            </a:r>
            <a:br/>
            <a:r>
              <a:t>EESC 436 Coastal Geomorphology</a:t>
            </a:r>
            <a:br/>
            <a:r>
              <a:t>Option: EESC 449 Honours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5486400"/>
            <a:ext cx="2743200" cy="2011680"/>
          </a:xfrm>
          <a:prstGeom prst="rect">
            <a:avLst/>
          </a:prstGeom>
          <a:solidFill>
            <a:srgbClr val="DCDC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defRPr sz="1100" b="1"/>
            </a:pPr>
            <a:r>
              <a:t>Summer &amp; Enrichment</a:t>
            </a:r>
            <a:br/>
            <a:r>
              <a:t>Hydrometric Micro-Credential</a:t>
            </a:r>
            <a:br/>
            <a:r>
              <a:t>Electrofishing Certificate</a:t>
            </a:r>
            <a:br/>
            <a:r>
              <a:t>GIS / Remote Sensing Workshops</a:t>
            </a:r>
            <a:br/>
            <a:r>
              <a:t>Go Global / Co-op / NSERC USRA</a:t>
            </a:r>
            <a:br/>
            <a:r>
              <a:t>Research &amp; Honours Prep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