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
  </p:notesMasterIdLst>
  <p:sldIdLst>
    <p:sldId id="256" r:id="rId2"/>
  </p:sldIdLst>
  <p:sldSz cx="20116800" cy="31089600"/>
  <p:notesSz cx="9296400" cy="14782800"/>
  <p:defaultTextStyle>
    <a:defPPr>
      <a:defRPr lang="en-US"/>
    </a:defPPr>
    <a:lvl1pPr marL="0" algn="l" defTabSz="2196338" rtl="0" eaLnBrk="1" latinLnBrk="0" hangingPunct="1">
      <a:defRPr sz="4323" kern="1200">
        <a:solidFill>
          <a:schemeClr val="tx1"/>
        </a:solidFill>
        <a:latin typeface="+mn-lt"/>
        <a:ea typeface="+mn-ea"/>
        <a:cs typeface="+mn-cs"/>
      </a:defRPr>
    </a:lvl1pPr>
    <a:lvl2pPr marL="1098168" algn="l" defTabSz="2196338" rtl="0" eaLnBrk="1" latinLnBrk="0" hangingPunct="1">
      <a:defRPr sz="4323" kern="1200">
        <a:solidFill>
          <a:schemeClr val="tx1"/>
        </a:solidFill>
        <a:latin typeface="+mn-lt"/>
        <a:ea typeface="+mn-ea"/>
        <a:cs typeface="+mn-cs"/>
      </a:defRPr>
    </a:lvl2pPr>
    <a:lvl3pPr marL="2196338" algn="l" defTabSz="2196338" rtl="0" eaLnBrk="1" latinLnBrk="0" hangingPunct="1">
      <a:defRPr sz="4323" kern="1200">
        <a:solidFill>
          <a:schemeClr val="tx1"/>
        </a:solidFill>
        <a:latin typeface="+mn-lt"/>
        <a:ea typeface="+mn-ea"/>
        <a:cs typeface="+mn-cs"/>
      </a:defRPr>
    </a:lvl3pPr>
    <a:lvl4pPr marL="3294506" algn="l" defTabSz="2196338" rtl="0" eaLnBrk="1" latinLnBrk="0" hangingPunct="1">
      <a:defRPr sz="4323" kern="1200">
        <a:solidFill>
          <a:schemeClr val="tx1"/>
        </a:solidFill>
        <a:latin typeface="+mn-lt"/>
        <a:ea typeface="+mn-ea"/>
        <a:cs typeface="+mn-cs"/>
      </a:defRPr>
    </a:lvl4pPr>
    <a:lvl5pPr marL="4392675" algn="l" defTabSz="2196338" rtl="0" eaLnBrk="1" latinLnBrk="0" hangingPunct="1">
      <a:defRPr sz="4323" kern="1200">
        <a:solidFill>
          <a:schemeClr val="tx1"/>
        </a:solidFill>
        <a:latin typeface="+mn-lt"/>
        <a:ea typeface="+mn-ea"/>
        <a:cs typeface="+mn-cs"/>
      </a:defRPr>
    </a:lvl5pPr>
    <a:lvl6pPr marL="5490845" algn="l" defTabSz="2196338" rtl="0" eaLnBrk="1" latinLnBrk="0" hangingPunct="1">
      <a:defRPr sz="4323" kern="1200">
        <a:solidFill>
          <a:schemeClr val="tx1"/>
        </a:solidFill>
        <a:latin typeface="+mn-lt"/>
        <a:ea typeface="+mn-ea"/>
        <a:cs typeface="+mn-cs"/>
      </a:defRPr>
    </a:lvl6pPr>
    <a:lvl7pPr marL="6589013" algn="l" defTabSz="2196338" rtl="0" eaLnBrk="1" latinLnBrk="0" hangingPunct="1">
      <a:defRPr sz="4323" kern="1200">
        <a:solidFill>
          <a:schemeClr val="tx1"/>
        </a:solidFill>
        <a:latin typeface="+mn-lt"/>
        <a:ea typeface="+mn-ea"/>
        <a:cs typeface="+mn-cs"/>
      </a:defRPr>
    </a:lvl7pPr>
    <a:lvl8pPr marL="7687181" algn="l" defTabSz="2196338" rtl="0" eaLnBrk="1" latinLnBrk="0" hangingPunct="1">
      <a:defRPr sz="4323" kern="1200">
        <a:solidFill>
          <a:schemeClr val="tx1"/>
        </a:solidFill>
        <a:latin typeface="+mn-lt"/>
        <a:ea typeface="+mn-ea"/>
        <a:cs typeface="+mn-cs"/>
      </a:defRPr>
    </a:lvl8pPr>
    <a:lvl9pPr marL="8785350" algn="l" defTabSz="2196338" rtl="0" eaLnBrk="1" latinLnBrk="0" hangingPunct="1">
      <a:defRPr sz="432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FF3F3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614" y="-35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4028748" cy="740385"/>
          </a:xfrm>
          <a:prstGeom prst="rect">
            <a:avLst/>
          </a:prstGeom>
        </p:spPr>
        <p:txBody>
          <a:bodyPr vert="horz" lIns="89126" tIns="44564" rIns="89126" bIns="44564" rtlCol="0"/>
          <a:lstStyle>
            <a:lvl1pPr algn="l">
              <a:defRPr sz="1200"/>
            </a:lvl1pPr>
          </a:lstStyle>
          <a:p>
            <a:endParaRPr lang="en-CA"/>
          </a:p>
        </p:txBody>
      </p:sp>
      <p:sp>
        <p:nvSpPr>
          <p:cNvPr id="3" name="Date Placeholder 2"/>
          <p:cNvSpPr>
            <a:spLocks noGrp="1"/>
          </p:cNvSpPr>
          <p:nvPr>
            <p:ph type="dt" idx="1"/>
          </p:nvPr>
        </p:nvSpPr>
        <p:spPr>
          <a:xfrm>
            <a:off x="5266116" y="4"/>
            <a:ext cx="4028748" cy="740385"/>
          </a:xfrm>
          <a:prstGeom prst="rect">
            <a:avLst/>
          </a:prstGeom>
        </p:spPr>
        <p:txBody>
          <a:bodyPr vert="horz" lIns="89126" tIns="44564" rIns="89126" bIns="44564" rtlCol="0"/>
          <a:lstStyle>
            <a:lvl1pPr algn="r">
              <a:defRPr sz="1200"/>
            </a:lvl1pPr>
          </a:lstStyle>
          <a:p>
            <a:fld id="{30023EB8-6DB0-4187-BD42-4ED2F5BBA06F}" type="datetimeFigureOut">
              <a:rPr lang="en-CA" smtClean="0"/>
              <a:t>2020-05-04</a:t>
            </a:fld>
            <a:endParaRPr lang="en-CA"/>
          </a:p>
        </p:txBody>
      </p:sp>
      <p:sp>
        <p:nvSpPr>
          <p:cNvPr id="4" name="Slide Image Placeholder 3"/>
          <p:cNvSpPr>
            <a:spLocks noGrp="1" noRot="1" noChangeAspect="1"/>
          </p:cNvSpPr>
          <p:nvPr>
            <p:ph type="sldImg" idx="2"/>
          </p:nvPr>
        </p:nvSpPr>
        <p:spPr>
          <a:xfrm>
            <a:off x="3035300" y="1847850"/>
            <a:ext cx="3225800" cy="4987925"/>
          </a:xfrm>
          <a:prstGeom prst="rect">
            <a:avLst/>
          </a:prstGeom>
          <a:noFill/>
          <a:ln w="12700">
            <a:solidFill>
              <a:prstClr val="black"/>
            </a:solidFill>
          </a:ln>
        </p:spPr>
        <p:txBody>
          <a:bodyPr vert="horz" lIns="89126" tIns="44564" rIns="89126" bIns="44564" rtlCol="0" anchor="ctr"/>
          <a:lstStyle/>
          <a:p>
            <a:endParaRPr lang="en-CA"/>
          </a:p>
        </p:txBody>
      </p:sp>
      <p:sp>
        <p:nvSpPr>
          <p:cNvPr id="5" name="Notes Placeholder 4"/>
          <p:cNvSpPr>
            <a:spLocks noGrp="1"/>
          </p:cNvSpPr>
          <p:nvPr>
            <p:ph type="body" sz="quarter" idx="3"/>
          </p:nvPr>
        </p:nvSpPr>
        <p:spPr>
          <a:xfrm>
            <a:off x="929952" y="7114537"/>
            <a:ext cx="7436506" cy="5820415"/>
          </a:xfrm>
          <a:prstGeom prst="rect">
            <a:avLst/>
          </a:prstGeom>
        </p:spPr>
        <p:txBody>
          <a:bodyPr vert="horz" lIns="89126" tIns="44564" rIns="89126" bIns="44564"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1" y="14042419"/>
            <a:ext cx="4028748" cy="740385"/>
          </a:xfrm>
          <a:prstGeom prst="rect">
            <a:avLst/>
          </a:prstGeom>
        </p:spPr>
        <p:txBody>
          <a:bodyPr vert="horz" lIns="89126" tIns="44564" rIns="89126" bIns="44564" rtlCol="0" anchor="b"/>
          <a:lstStyle>
            <a:lvl1pPr algn="l">
              <a:defRPr sz="1200"/>
            </a:lvl1pPr>
          </a:lstStyle>
          <a:p>
            <a:endParaRPr lang="en-CA"/>
          </a:p>
        </p:txBody>
      </p:sp>
      <p:sp>
        <p:nvSpPr>
          <p:cNvPr id="7" name="Slide Number Placeholder 6"/>
          <p:cNvSpPr>
            <a:spLocks noGrp="1"/>
          </p:cNvSpPr>
          <p:nvPr>
            <p:ph type="sldNum" sz="quarter" idx="5"/>
          </p:nvPr>
        </p:nvSpPr>
        <p:spPr>
          <a:xfrm>
            <a:off x="5266116" y="14042419"/>
            <a:ext cx="4028748" cy="740385"/>
          </a:xfrm>
          <a:prstGeom prst="rect">
            <a:avLst/>
          </a:prstGeom>
        </p:spPr>
        <p:txBody>
          <a:bodyPr vert="horz" lIns="89126" tIns="44564" rIns="89126" bIns="44564" rtlCol="0" anchor="b"/>
          <a:lstStyle>
            <a:lvl1pPr algn="r">
              <a:defRPr sz="1200"/>
            </a:lvl1pPr>
          </a:lstStyle>
          <a:p>
            <a:fld id="{4C3DD7D4-8B1C-4E91-9508-2E753ED21401}" type="slidenum">
              <a:rPr lang="en-CA" smtClean="0"/>
              <a:t>‹#›</a:t>
            </a:fld>
            <a:endParaRPr lang="en-CA"/>
          </a:p>
        </p:txBody>
      </p:sp>
    </p:spTree>
    <p:extLst>
      <p:ext uri="{BB962C8B-B14F-4D97-AF65-F5344CB8AC3E}">
        <p14:creationId xmlns:p14="http://schemas.microsoft.com/office/powerpoint/2010/main" val="3489225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4C3DD7D4-8B1C-4E91-9508-2E753ED21401}" type="slidenum">
              <a:rPr lang="en-CA" smtClean="0"/>
              <a:t>1</a:t>
            </a:fld>
            <a:endParaRPr lang="en-CA"/>
          </a:p>
        </p:txBody>
      </p:sp>
    </p:spTree>
    <p:extLst>
      <p:ext uri="{BB962C8B-B14F-4D97-AF65-F5344CB8AC3E}">
        <p14:creationId xmlns:p14="http://schemas.microsoft.com/office/powerpoint/2010/main" val="2589438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08760" y="5088045"/>
            <a:ext cx="17099280" cy="10823787"/>
          </a:xfrm>
        </p:spPr>
        <p:txBody>
          <a:bodyPr anchor="b"/>
          <a:lstStyle>
            <a:lvl1pPr algn="ctr">
              <a:defRPr sz="13200"/>
            </a:lvl1pPr>
          </a:lstStyle>
          <a:p>
            <a:r>
              <a:rPr lang="en-US" smtClean="0"/>
              <a:t>Click to edit Master title style</a:t>
            </a:r>
            <a:endParaRPr lang="en-US" dirty="0"/>
          </a:p>
        </p:txBody>
      </p:sp>
      <p:sp>
        <p:nvSpPr>
          <p:cNvPr id="3" name="Subtitle 2"/>
          <p:cNvSpPr>
            <a:spLocks noGrp="1"/>
          </p:cNvSpPr>
          <p:nvPr>
            <p:ph type="subTitle" idx="1"/>
          </p:nvPr>
        </p:nvSpPr>
        <p:spPr>
          <a:xfrm>
            <a:off x="2514600" y="16329239"/>
            <a:ext cx="15087600" cy="7506121"/>
          </a:xfrm>
        </p:spPr>
        <p:txBody>
          <a:bodyPr/>
          <a:lstStyle>
            <a:lvl1pPr marL="0" indent="0" algn="ctr">
              <a:buNone/>
              <a:defRPr sz="5280"/>
            </a:lvl1pPr>
            <a:lvl2pPr marL="1005840" indent="0" algn="ctr">
              <a:buNone/>
              <a:defRPr sz="4400"/>
            </a:lvl2pPr>
            <a:lvl3pPr marL="2011680" indent="0" algn="ctr">
              <a:buNone/>
              <a:defRPr sz="3960"/>
            </a:lvl3pPr>
            <a:lvl4pPr marL="3017520" indent="0" algn="ctr">
              <a:buNone/>
              <a:defRPr sz="3520"/>
            </a:lvl4pPr>
            <a:lvl5pPr marL="4023360" indent="0" algn="ctr">
              <a:buNone/>
              <a:defRPr sz="3520"/>
            </a:lvl5pPr>
            <a:lvl6pPr marL="5029200" indent="0" algn="ctr">
              <a:buNone/>
              <a:defRPr sz="3520"/>
            </a:lvl6pPr>
            <a:lvl7pPr marL="6035040" indent="0" algn="ctr">
              <a:buNone/>
              <a:defRPr sz="3520"/>
            </a:lvl7pPr>
            <a:lvl8pPr marL="7040880" indent="0" algn="ctr">
              <a:buNone/>
              <a:defRPr sz="3520"/>
            </a:lvl8pPr>
            <a:lvl9pPr marL="8046720" indent="0" algn="ctr">
              <a:buNone/>
              <a:defRPr sz="352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34D8B7E-8DC2-499E-BCCB-2899E5CD5D99}" type="datetimeFigureOut">
              <a:rPr lang="en-CA" smtClean="0"/>
              <a:t>2020-05-04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3290152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34D8B7E-8DC2-499E-BCCB-2899E5CD5D99}" type="datetimeFigureOut">
              <a:rPr lang="en-CA" smtClean="0"/>
              <a:t>2020-05-04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268598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72554" y="7750819"/>
            <a:ext cx="17350740" cy="12932408"/>
          </a:xfrm>
        </p:spPr>
        <p:txBody>
          <a:bodyPr anchor="b"/>
          <a:lstStyle>
            <a:lvl1pPr>
              <a:defRPr sz="13200"/>
            </a:lvl1pPr>
          </a:lstStyle>
          <a:p>
            <a:r>
              <a:rPr lang="en-US" smtClean="0"/>
              <a:t>Click to edit Master title style</a:t>
            </a:r>
            <a:endParaRPr lang="en-US" dirty="0"/>
          </a:p>
        </p:txBody>
      </p:sp>
      <p:sp>
        <p:nvSpPr>
          <p:cNvPr id="3" name="Text Placeholder 2"/>
          <p:cNvSpPr>
            <a:spLocks noGrp="1"/>
          </p:cNvSpPr>
          <p:nvPr>
            <p:ph type="body" idx="1"/>
          </p:nvPr>
        </p:nvSpPr>
        <p:spPr>
          <a:xfrm>
            <a:off x="1372554" y="20805572"/>
            <a:ext cx="17350740" cy="6800848"/>
          </a:xfrm>
        </p:spPr>
        <p:txBody>
          <a:bodyPr/>
          <a:lstStyle>
            <a:lvl1pPr marL="0" indent="0">
              <a:buNone/>
              <a:defRPr sz="5280">
                <a:solidFill>
                  <a:schemeClr val="tx1"/>
                </a:solidFill>
              </a:defRPr>
            </a:lvl1pPr>
            <a:lvl2pPr marL="1005840" indent="0">
              <a:buNone/>
              <a:defRPr sz="4400">
                <a:solidFill>
                  <a:schemeClr val="tx1">
                    <a:tint val="75000"/>
                  </a:schemeClr>
                </a:solidFill>
              </a:defRPr>
            </a:lvl2pPr>
            <a:lvl3pPr marL="2011680" indent="0">
              <a:buNone/>
              <a:defRPr sz="3960">
                <a:solidFill>
                  <a:schemeClr val="tx1">
                    <a:tint val="75000"/>
                  </a:schemeClr>
                </a:solidFill>
              </a:defRPr>
            </a:lvl3pPr>
            <a:lvl4pPr marL="3017520" indent="0">
              <a:buNone/>
              <a:defRPr sz="3520">
                <a:solidFill>
                  <a:schemeClr val="tx1">
                    <a:tint val="75000"/>
                  </a:schemeClr>
                </a:solidFill>
              </a:defRPr>
            </a:lvl4pPr>
            <a:lvl5pPr marL="4023360" indent="0">
              <a:buNone/>
              <a:defRPr sz="3520">
                <a:solidFill>
                  <a:schemeClr val="tx1">
                    <a:tint val="75000"/>
                  </a:schemeClr>
                </a:solidFill>
              </a:defRPr>
            </a:lvl5pPr>
            <a:lvl6pPr marL="5029200" indent="0">
              <a:buNone/>
              <a:defRPr sz="3520">
                <a:solidFill>
                  <a:schemeClr val="tx1">
                    <a:tint val="75000"/>
                  </a:schemeClr>
                </a:solidFill>
              </a:defRPr>
            </a:lvl6pPr>
            <a:lvl7pPr marL="6035040" indent="0">
              <a:buNone/>
              <a:defRPr sz="3520">
                <a:solidFill>
                  <a:schemeClr val="tx1">
                    <a:tint val="75000"/>
                  </a:schemeClr>
                </a:solidFill>
              </a:defRPr>
            </a:lvl7pPr>
            <a:lvl8pPr marL="7040880" indent="0">
              <a:buNone/>
              <a:defRPr sz="3520">
                <a:solidFill>
                  <a:schemeClr val="tx1">
                    <a:tint val="75000"/>
                  </a:schemeClr>
                </a:solidFill>
              </a:defRPr>
            </a:lvl8pPr>
            <a:lvl9pPr marL="8046720" indent="0">
              <a:buNone/>
              <a:defRPr sz="352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D8B7E-8DC2-499E-BCCB-2899E5CD5D99}" type="datetimeFigureOut">
              <a:rPr lang="en-CA" smtClean="0"/>
              <a:t>2020-05-04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3490179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383030" y="8276166"/>
            <a:ext cx="8549640" cy="1972606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0184130" y="8276166"/>
            <a:ext cx="8549640" cy="1972606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34D8B7E-8DC2-499E-BCCB-2899E5CD5D99}" type="datetimeFigureOut">
              <a:rPr lang="en-CA" smtClean="0"/>
              <a:t>2020-05-04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1964395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85650" y="1655240"/>
            <a:ext cx="17350740" cy="60092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85652" y="7621272"/>
            <a:ext cx="8510348" cy="3735068"/>
          </a:xfrm>
        </p:spPr>
        <p:txBody>
          <a:bodyPr anchor="b"/>
          <a:lstStyle>
            <a:lvl1pPr marL="0" indent="0">
              <a:buNone/>
              <a:defRPr sz="5280" b="1"/>
            </a:lvl1pPr>
            <a:lvl2pPr marL="1005840" indent="0">
              <a:buNone/>
              <a:defRPr sz="4400" b="1"/>
            </a:lvl2pPr>
            <a:lvl3pPr marL="2011680" indent="0">
              <a:buNone/>
              <a:defRPr sz="3960" b="1"/>
            </a:lvl3pPr>
            <a:lvl4pPr marL="3017520" indent="0">
              <a:buNone/>
              <a:defRPr sz="3520" b="1"/>
            </a:lvl4pPr>
            <a:lvl5pPr marL="4023360" indent="0">
              <a:buNone/>
              <a:defRPr sz="3520" b="1"/>
            </a:lvl5pPr>
            <a:lvl6pPr marL="5029200" indent="0">
              <a:buNone/>
              <a:defRPr sz="3520" b="1"/>
            </a:lvl6pPr>
            <a:lvl7pPr marL="6035040" indent="0">
              <a:buNone/>
              <a:defRPr sz="3520" b="1"/>
            </a:lvl7pPr>
            <a:lvl8pPr marL="7040880" indent="0">
              <a:buNone/>
              <a:defRPr sz="3520" b="1"/>
            </a:lvl8pPr>
            <a:lvl9pPr marL="8046720" indent="0">
              <a:buNone/>
              <a:defRPr sz="3520" b="1"/>
            </a:lvl9pPr>
          </a:lstStyle>
          <a:p>
            <a:pPr lvl="0"/>
            <a:r>
              <a:rPr lang="en-US" smtClean="0"/>
              <a:t>Click to edit Master text styles</a:t>
            </a:r>
          </a:p>
        </p:txBody>
      </p:sp>
      <p:sp>
        <p:nvSpPr>
          <p:cNvPr id="4" name="Content Placeholder 3"/>
          <p:cNvSpPr>
            <a:spLocks noGrp="1"/>
          </p:cNvSpPr>
          <p:nvPr>
            <p:ph sz="half" idx="2"/>
          </p:nvPr>
        </p:nvSpPr>
        <p:spPr>
          <a:xfrm>
            <a:off x="1385652" y="11356340"/>
            <a:ext cx="8510348" cy="1670346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0184131" y="7621272"/>
            <a:ext cx="8552260" cy="3735068"/>
          </a:xfrm>
        </p:spPr>
        <p:txBody>
          <a:bodyPr anchor="b"/>
          <a:lstStyle>
            <a:lvl1pPr marL="0" indent="0">
              <a:buNone/>
              <a:defRPr sz="5280" b="1"/>
            </a:lvl1pPr>
            <a:lvl2pPr marL="1005840" indent="0">
              <a:buNone/>
              <a:defRPr sz="4400" b="1"/>
            </a:lvl2pPr>
            <a:lvl3pPr marL="2011680" indent="0">
              <a:buNone/>
              <a:defRPr sz="3960" b="1"/>
            </a:lvl3pPr>
            <a:lvl4pPr marL="3017520" indent="0">
              <a:buNone/>
              <a:defRPr sz="3520" b="1"/>
            </a:lvl4pPr>
            <a:lvl5pPr marL="4023360" indent="0">
              <a:buNone/>
              <a:defRPr sz="3520" b="1"/>
            </a:lvl5pPr>
            <a:lvl6pPr marL="5029200" indent="0">
              <a:buNone/>
              <a:defRPr sz="3520" b="1"/>
            </a:lvl6pPr>
            <a:lvl7pPr marL="6035040" indent="0">
              <a:buNone/>
              <a:defRPr sz="3520" b="1"/>
            </a:lvl7pPr>
            <a:lvl8pPr marL="7040880" indent="0">
              <a:buNone/>
              <a:defRPr sz="3520" b="1"/>
            </a:lvl8pPr>
            <a:lvl9pPr marL="8046720" indent="0">
              <a:buNone/>
              <a:defRPr sz="3520" b="1"/>
            </a:lvl9pPr>
          </a:lstStyle>
          <a:p>
            <a:pPr lvl="0"/>
            <a:r>
              <a:rPr lang="en-US" smtClean="0"/>
              <a:t>Click to edit Master text styles</a:t>
            </a:r>
          </a:p>
        </p:txBody>
      </p:sp>
      <p:sp>
        <p:nvSpPr>
          <p:cNvPr id="6" name="Content Placeholder 5"/>
          <p:cNvSpPr>
            <a:spLocks noGrp="1"/>
          </p:cNvSpPr>
          <p:nvPr>
            <p:ph sz="quarter" idx="4"/>
          </p:nvPr>
        </p:nvSpPr>
        <p:spPr>
          <a:xfrm>
            <a:off x="10184131" y="11356340"/>
            <a:ext cx="8552260" cy="1670346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34D8B7E-8DC2-499E-BCCB-2899E5CD5D99}" type="datetimeFigureOut">
              <a:rPr lang="en-CA" smtClean="0"/>
              <a:t>2020-05-04</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1558126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34D8B7E-8DC2-499E-BCCB-2899E5CD5D99}" type="datetimeFigureOut">
              <a:rPr lang="en-CA" smtClean="0"/>
              <a:t>2020-05-04</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2199134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4D8B7E-8DC2-499E-BCCB-2899E5CD5D99}" type="datetimeFigureOut">
              <a:rPr lang="en-CA" smtClean="0"/>
              <a:t>2020-05-04</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1134732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650" y="2072640"/>
            <a:ext cx="6488192" cy="7254240"/>
          </a:xfrm>
        </p:spPr>
        <p:txBody>
          <a:bodyPr anchor="b"/>
          <a:lstStyle>
            <a:lvl1pPr>
              <a:defRPr sz="7040"/>
            </a:lvl1pPr>
          </a:lstStyle>
          <a:p>
            <a:r>
              <a:rPr lang="en-US" smtClean="0"/>
              <a:t>Click to edit Master title style</a:t>
            </a:r>
            <a:endParaRPr lang="en-US" dirty="0"/>
          </a:p>
        </p:txBody>
      </p:sp>
      <p:sp>
        <p:nvSpPr>
          <p:cNvPr id="3" name="Content Placeholder 2"/>
          <p:cNvSpPr>
            <a:spLocks noGrp="1"/>
          </p:cNvSpPr>
          <p:nvPr>
            <p:ph idx="1"/>
          </p:nvPr>
        </p:nvSpPr>
        <p:spPr>
          <a:xfrm>
            <a:off x="8552260" y="4476333"/>
            <a:ext cx="10184130" cy="22093767"/>
          </a:xfrm>
        </p:spPr>
        <p:txBody>
          <a:bodyPr/>
          <a:lstStyle>
            <a:lvl1pPr>
              <a:defRPr sz="7040"/>
            </a:lvl1pPr>
            <a:lvl2pPr>
              <a:defRPr sz="6160"/>
            </a:lvl2pPr>
            <a:lvl3pPr>
              <a:defRPr sz="5280"/>
            </a:lvl3pPr>
            <a:lvl4pPr>
              <a:defRPr sz="4400"/>
            </a:lvl4pPr>
            <a:lvl5pPr>
              <a:defRPr sz="4400"/>
            </a:lvl5pPr>
            <a:lvl6pPr>
              <a:defRPr sz="4400"/>
            </a:lvl6pPr>
            <a:lvl7pPr>
              <a:defRPr sz="4400"/>
            </a:lvl7pPr>
            <a:lvl8pPr>
              <a:defRPr sz="4400"/>
            </a:lvl8pPr>
            <a:lvl9pPr>
              <a:defRPr sz="4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385650" y="9326880"/>
            <a:ext cx="6488192" cy="17279199"/>
          </a:xfrm>
        </p:spPr>
        <p:txBody>
          <a:bodyPr/>
          <a:lstStyle>
            <a:lvl1pPr marL="0" indent="0">
              <a:buNone/>
              <a:defRPr sz="3520"/>
            </a:lvl1pPr>
            <a:lvl2pPr marL="1005840" indent="0">
              <a:buNone/>
              <a:defRPr sz="3080"/>
            </a:lvl2pPr>
            <a:lvl3pPr marL="2011680" indent="0">
              <a:buNone/>
              <a:defRPr sz="2640"/>
            </a:lvl3pPr>
            <a:lvl4pPr marL="3017520" indent="0">
              <a:buNone/>
              <a:defRPr sz="2200"/>
            </a:lvl4pPr>
            <a:lvl5pPr marL="4023360" indent="0">
              <a:buNone/>
              <a:defRPr sz="2200"/>
            </a:lvl5pPr>
            <a:lvl6pPr marL="5029200" indent="0">
              <a:buNone/>
              <a:defRPr sz="2200"/>
            </a:lvl6pPr>
            <a:lvl7pPr marL="6035040" indent="0">
              <a:buNone/>
              <a:defRPr sz="2200"/>
            </a:lvl7pPr>
            <a:lvl8pPr marL="7040880" indent="0">
              <a:buNone/>
              <a:defRPr sz="2200"/>
            </a:lvl8pPr>
            <a:lvl9pPr marL="8046720" indent="0">
              <a:buNone/>
              <a:defRPr sz="2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4D8B7E-8DC2-499E-BCCB-2899E5CD5D99}" type="datetimeFigureOut">
              <a:rPr lang="en-CA" smtClean="0"/>
              <a:t>2020-05-04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2051959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650" y="2072640"/>
            <a:ext cx="6488192" cy="7254240"/>
          </a:xfrm>
        </p:spPr>
        <p:txBody>
          <a:bodyPr anchor="b"/>
          <a:lstStyle>
            <a:lvl1pPr>
              <a:defRPr sz="704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552260" y="4476333"/>
            <a:ext cx="10184130" cy="22093767"/>
          </a:xfrm>
        </p:spPr>
        <p:txBody>
          <a:bodyPr anchor="t"/>
          <a:lstStyle>
            <a:lvl1pPr marL="0" indent="0">
              <a:buNone/>
              <a:defRPr sz="7040"/>
            </a:lvl1pPr>
            <a:lvl2pPr marL="1005840" indent="0">
              <a:buNone/>
              <a:defRPr sz="6160"/>
            </a:lvl2pPr>
            <a:lvl3pPr marL="2011680" indent="0">
              <a:buNone/>
              <a:defRPr sz="5280"/>
            </a:lvl3pPr>
            <a:lvl4pPr marL="3017520" indent="0">
              <a:buNone/>
              <a:defRPr sz="4400"/>
            </a:lvl4pPr>
            <a:lvl5pPr marL="4023360" indent="0">
              <a:buNone/>
              <a:defRPr sz="4400"/>
            </a:lvl5pPr>
            <a:lvl6pPr marL="5029200" indent="0">
              <a:buNone/>
              <a:defRPr sz="4400"/>
            </a:lvl6pPr>
            <a:lvl7pPr marL="6035040" indent="0">
              <a:buNone/>
              <a:defRPr sz="4400"/>
            </a:lvl7pPr>
            <a:lvl8pPr marL="7040880" indent="0">
              <a:buNone/>
              <a:defRPr sz="4400"/>
            </a:lvl8pPr>
            <a:lvl9pPr marL="8046720" indent="0">
              <a:buNone/>
              <a:defRPr sz="4400"/>
            </a:lvl9pPr>
          </a:lstStyle>
          <a:p>
            <a:r>
              <a:rPr lang="en-US" smtClean="0"/>
              <a:t>Click icon to add picture</a:t>
            </a:r>
            <a:endParaRPr lang="en-US" dirty="0"/>
          </a:p>
        </p:txBody>
      </p:sp>
      <p:sp>
        <p:nvSpPr>
          <p:cNvPr id="4" name="Text Placeholder 3"/>
          <p:cNvSpPr>
            <a:spLocks noGrp="1"/>
          </p:cNvSpPr>
          <p:nvPr>
            <p:ph type="body" sz="half" idx="2"/>
          </p:nvPr>
        </p:nvSpPr>
        <p:spPr>
          <a:xfrm>
            <a:off x="1385650" y="9326880"/>
            <a:ext cx="6488192" cy="17279199"/>
          </a:xfrm>
        </p:spPr>
        <p:txBody>
          <a:bodyPr/>
          <a:lstStyle>
            <a:lvl1pPr marL="0" indent="0">
              <a:buNone/>
              <a:defRPr sz="3520"/>
            </a:lvl1pPr>
            <a:lvl2pPr marL="1005840" indent="0">
              <a:buNone/>
              <a:defRPr sz="3080"/>
            </a:lvl2pPr>
            <a:lvl3pPr marL="2011680" indent="0">
              <a:buNone/>
              <a:defRPr sz="2640"/>
            </a:lvl3pPr>
            <a:lvl4pPr marL="3017520" indent="0">
              <a:buNone/>
              <a:defRPr sz="2200"/>
            </a:lvl4pPr>
            <a:lvl5pPr marL="4023360" indent="0">
              <a:buNone/>
              <a:defRPr sz="2200"/>
            </a:lvl5pPr>
            <a:lvl6pPr marL="5029200" indent="0">
              <a:buNone/>
              <a:defRPr sz="2200"/>
            </a:lvl6pPr>
            <a:lvl7pPr marL="6035040" indent="0">
              <a:buNone/>
              <a:defRPr sz="2200"/>
            </a:lvl7pPr>
            <a:lvl8pPr marL="7040880" indent="0">
              <a:buNone/>
              <a:defRPr sz="2200"/>
            </a:lvl8pPr>
            <a:lvl9pPr marL="8046720" indent="0">
              <a:buNone/>
              <a:defRPr sz="2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4D8B7E-8DC2-499E-BCCB-2899E5CD5D99}" type="datetimeFigureOut">
              <a:rPr lang="en-CA" smtClean="0"/>
              <a:t>2020-05-04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4181665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34D8B7E-8DC2-499E-BCCB-2899E5CD5D99}" type="datetimeFigureOut">
              <a:rPr lang="en-CA" smtClean="0"/>
              <a:t>2020-05-04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2611119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396086" y="1655233"/>
            <a:ext cx="4337685" cy="26346999"/>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83031" y="1655233"/>
            <a:ext cx="12761595" cy="263469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34D8B7E-8DC2-499E-BCCB-2899E5CD5D99}" type="datetimeFigureOut">
              <a:rPr lang="en-CA" smtClean="0"/>
              <a:t>2020-05-04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838240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83030" y="1655240"/>
            <a:ext cx="17350740" cy="6009219"/>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83030" y="8276166"/>
            <a:ext cx="17350740" cy="1972606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83030" y="28815460"/>
            <a:ext cx="4526280" cy="1655233"/>
          </a:xfrm>
          <a:prstGeom prst="rect">
            <a:avLst/>
          </a:prstGeom>
        </p:spPr>
        <p:txBody>
          <a:bodyPr vert="horz" lIns="91440" tIns="45720" rIns="91440" bIns="45720" rtlCol="0" anchor="ctr"/>
          <a:lstStyle>
            <a:lvl1pPr algn="l">
              <a:defRPr sz="2640">
                <a:solidFill>
                  <a:schemeClr val="tx1">
                    <a:tint val="75000"/>
                  </a:schemeClr>
                </a:solidFill>
              </a:defRPr>
            </a:lvl1pPr>
          </a:lstStyle>
          <a:p>
            <a:fld id="{F34D8B7E-8DC2-499E-BCCB-2899E5CD5D99}" type="datetimeFigureOut">
              <a:rPr lang="en-CA" smtClean="0"/>
              <a:t>2020-05-04</a:t>
            </a:fld>
            <a:endParaRPr lang="en-CA"/>
          </a:p>
        </p:txBody>
      </p:sp>
      <p:sp>
        <p:nvSpPr>
          <p:cNvPr id="5" name="Footer Placeholder 4"/>
          <p:cNvSpPr>
            <a:spLocks noGrp="1"/>
          </p:cNvSpPr>
          <p:nvPr>
            <p:ph type="ftr" sz="quarter" idx="3"/>
          </p:nvPr>
        </p:nvSpPr>
        <p:spPr>
          <a:xfrm>
            <a:off x="6663690" y="28815460"/>
            <a:ext cx="6789420" cy="1655233"/>
          </a:xfrm>
          <a:prstGeom prst="rect">
            <a:avLst/>
          </a:prstGeom>
        </p:spPr>
        <p:txBody>
          <a:bodyPr vert="horz" lIns="91440" tIns="45720" rIns="91440" bIns="45720" rtlCol="0" anchor="ctr"/>
          <a:lstStyle>
            <a:lvl1pPr algn="ctr">
              <a:defRPr sz="264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14207490" y="28815460"/>
            <a:ext cx="4526280" cy="1655233"/>
          </a:xfrm>
          <a:prstGeom prst="rect">
            <a:avLst/>
          </a:prstGeom>
        </p:spPr>
        <p:txBody>
          <a:bodyPr vert="horz" lIns="91440" tIns="45720" rIns="91440" bIns="45720" rtlCol="0" anchor="ctr"/>
          <a:lstStyle>
            <a:lvl1pPr algn="r">
              <a:defRPr sz="2640">
                <a:solidFill>
                  <a:schemeClr val="tx1">
                    <a:tint val="75000"/>
                  </a:schemeClr>
                </a:solidFill>
              </a:defRPr>
            </a:lvl1pPr>
          </a:lstStyle>
          <a:p>
            <a:fld id="{9C711E10-3972-4F80-887B-279E0DAA133D}" type="slidenum">
              <a:rPr lang="en-CA" smtClean="0"/>
              <a:t>‹#›</a:t>
            </a:fld>
            <a:endParaRPr lang="en-CA"/>
          </a:p>
        </p:txBody>
      </p:sp>
    </p:spTree>
    <p:extLst>
      <p:ext uri="{BB962C8B-B14F-4D97-AF65-F5344CB8AC3E}">
        <p14:creationId xmlns:p14="http://schemas.microsoft.com/office/powerpoint/2010/main" val="40041672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2011680" rtl="0" eaLnBrk="1" latinLnBrk="0" hangingPunct="1">
        <a:lnSpc>
          <a:spcPct val="90000"/>
        </a:lnSpc>
        <a:spcBef>
          <a:spcPct val="0"/>
        </a:spcBef>
        <a:buNone/>
        <a:defRPr sz="9680" kern="1200">
          <a:solidFill>
            <a:schemeClr val="tx1"/>
          </a:solidFill>
          <a:latin typeface="+mj-lt"/>
          <a:ea typeface="+mj-ea"/>
          <a:cs typeface="+mj-cs"/>
        </a:defRPr>
      </a:lvl1pPr>
    </p:titleStyle>
    <p:bodyStyle>
      <a:lvl1pPr marL="502920" indent="-502920" algn="l" defTabSz="2011680" rtl="0" eaLnBrk="1" latinLnBrk="0" hangingPunct="1">
        <a:lnSpc>
          <a:spcPct val="90000"/>
        </a:lnSpc>
        <a:spcBef>
          <a:spcPts val="2200"/>
        </a:spcBef>
        <a:buFont typeface="Arial" panose="020B0604020202020204" pitchFamily="34" charset="0"/>
        <a:buChar char="•"/>
        <a:defRPr sz="6160" kern="1200">
          <a:solidFill>
            <a:schemeClr val="tx1"/>
          </a:solidFill>
          <a:latin typeface="+mn-lt"/>
          <a:ea typeface="+mn-ea"/>
          <a:cs typeface="+mn-cs"/>
        </a:defRPr>
      </a:lvl1pPr>
      <a:lvl2pPr marL="1508760" indent="-502920" algn="l" defTabSz="2011680" rtl="0" eaLnBrk="1" latinLnBrk="0" hangingPunct="1">
        <a:lnSpc>
          <a:spcPct val="90000"/>
        </a:lnSpc>
        <a:spcBef>
          <a:spcPts val="1100"/>
        </a:spcBef>
        <a:buFont typeface="Arial" panose="020B0604020202020204" pitchFamily="34" charset="0"/>
        <a:buChar char="•"/>
        <a:defRPr sz="5280" kern="1200">
          <a:solidFill>
            <a:schemeClr val="tx1"/>
          </a:solidFill>
          <a:latin typeface="+mn-lt"/>
          <a:ea typeface="+mn-ea"/>
          <a:cs typeface="+mn-cs"/>
        </a:defRPr>
      </a:lvl2pPr>
      <a:lvl3pPr marL="2514600" indent="-502920" algn="l" defTabSz="2011680" rtl="0" eaLnBrk="1" latinLnBrk="0" hangingPunct="1">
        <a:lnSpc>
          <a:spcPct val="90000"/>
        </a:lnSpc>
        <a:spcBef>
          <a:spcPts val="1100"/>
        </a:spcBef>
        <a:buFont typeface="Arial" panose="020B0604020202020204" pitchFamily="34" charset="0"/>
        <a:buChar char="•"/>
        <a:defRPr sz="4400" kern="1200">
          <a:solidFill>
            <a:schemeClr val="tx1"/>
          </a:solidFill>
          <a:latin typeface="+mn-lt"/>
          <a:ea typeface="+mn-ea"/>
          <a:cs typeface="+mn-cs"/>
        </a:defRPr>
      </a:lvl3pPr>
      <a:lvl4pPr marL="352044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4pPr>
      <a:lvl5pPr marL="452628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5pPr>
      <a:lvl6pPr marL="553212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6pPr>
      <a:lvl7pPr marL="653796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7pPr>
      <a:lvl8pPr marL="754380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8pPr>
      <a:lvl9pPr marL="854964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9pPr>
    </p:bodyStyle>
    <p:otherStyle>
      <a:defPPr>
        <a:defRPr lang="en-US"/>
      </a:defPPr>
      <a:lvl1pPr marL="0" algn="l" defTabSz="2011680" rtl="0" eaLnBrk="1" latinLnBrk="0" hangingPunct="1">
        <a:defRPr sz="3960" kern="1200">
          <a:solidFill>
            <a:schemeClr val="tx1"/>
          </a:solidFill>
          <a:latin typeface="+mn-lt"/>
          <a:ea typeface="+mn-ea"/>
          <a:cs typeface="+mn-cs"/>
        </a:defRPr>
      </a:lvl1pPr>
      <a:lvl2pPr marL="1005840" algn="l" defTabSz="2011680" rtl="0" eaLnBrk="1" latinLnBrk="0" hangingPunct="1">
        <a:defRPr sz="3960" kern="1200">
          <a:solidFill>
            <a:schemeClr val="tx1"/>
          </a:solidFill>
          <a:latin typeface="+mn-lt"/>
          <a:ea typeface="+mn-ea"/>
          <a:cs typeface="+mn-cs"/>
        </a:defRPr>
      </a:lvl2pPr>
      <a:lvl3pPr marL="2011680" algn="l" defTabSz="2011680" rtl="0" eaLnBrk="1" latinLnBrk="0" hangingPunct="1">
        <a:defRPr sz="3960" kern="1200">
          <a:solidFill>
            <a:schemeClr val="tx1"/>
          </a:solidFill>
          <a:latin typeface="+mn-lt"/>
          <a:ea typeface="+mn-ea"/>
          <a:cs typeface="+mn-cs"/>
        </a:defRPr>
      </a:lvl3pPr>
      <a:lvl4pPr marL="3017520" algn="l" defTabSz="2011680" rtl="0" eaLnBrk="1" latinLnBrk="0" hangingPunct="1">
        <a:defRPr sz="3960" kern="1200">
          <a:solidFill>
            <a:schemeClr val="tx1"/>
          </a:solidFill>
          <a:latin typeface="+mn-lt"/>
          <a:ea typeface="+mn-ea"/>
          <a:cs typeface="+mn-cs"/>
        </a:defRPr>
      </a:lvl4pPr>
      <a:lvl5pPr marL="4023360" algn="l" defTabSz="2011680" rtl="0" eaLnBrk="1" latinLnBrk="0" hangingPunct="1">
        <a:defRPr sz="3960" kern="1200">
          <a:solidFill>
            <a:schemeClr val="tx1"/>
          </a:solidFill>
          <a:latin typeface="+mn-lt"/>
          <a:ea typeface="+mn-ea"/>
          <a:cs typeface="+mn-cs"/>
        </a:defRPr>
      </a:lvl5pPr>
      <a:lvl6pPr marL="5029200" algn="l" defTabSz="2011680" rtl="0" eaLnBrk="1" latinLnBrk="0" hangingPunct="1">
        <a:defRPr sz="3960" kern="1200">
          <a:solidFill>
            <a:schemeClr val="tx1"/>
          </a:solidFill>
          <a:latin typeface="+mn-lt"/>
          <a:ea typeface="+mn-ea"/>
          <a:cs typeface="+mn-cs"/>
        </a:defRPr>
      </a:lvl6pPr>
      <a:lvl7pPr marL="6035040" algn="l" defTabSz="2011680" rtl="0" eaLnBrk="1" latinLnBrk="0" hangingPunct="1">
        <a:defRPr sz="3960" kern="1200">
          <a:solidFill>
            <a:schemeClr val="tx1"/>
          </a:solidFill>
          <a:latin typeface="+mn-lt"/>
          <a:ea typeface="+mn-ea"/>
          <a:cs typeface="+mn-cs"/>
        </a:defRPr>
      </a:lvl7pPr>
      <a:lvl8pPr marL="7040880" algn="l" defTabSz="2011680" rtl="0" eaLnBrk="1" latinLnBrk="0" hangingPunct="1">
        <a:defRPr sz="3960" kern="1200">
          <a:solidFill>
            <a:schemeClr val="tx1"/>
          </a:solidFill>
          <a:latin typeface="+mn-lt"/>
          <a:ea typeface="+mn-ea"/>
          <a:cs typeface="+mn-cs"/>
        </a:defRPr>
      </a:lvl8pPr>
      <a:lvl9pPr marL="8046720" algn="l" defTabSz="2011680" rtl="0" eaLnBrk="1" latinLnBrk="0" hangingPunct="1">
        <a:defRPr sz="3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4" name="Straight Arrow Connector 163"/>
          <p:cNvCxnSpPr>
            <a:stCxn id="131" idx="3"/>
            <a:endCxn id="162" idx="1"/>
          </p:cNvCxnSpPr>
          <p:nvPr/>
        </p:nvCxnSpPr>
        <p:spPr>
          <a:xfrm flipV="1">
            <a:off x="5620319" y="10523482"/>
            <a:ext cx="6377686" cy="34734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6" name="Rectangle 145"/>
          <p:cNvSpPr/>
          <p:nvPr/>
        </p:nvSpPr>
        <p:spPr>
          <a:xfrm>
            <a:off x="983548" y="7917095"/>
            <a:ext cx="984470" cy="742295"/>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EESC 111</a:t>
            </a:r>
          </a:p>
        </p:txBody>
      </p:sp>
      <p:sp>
        <p:nvSpPr>
          <p:cNvPr id="147" name="Rectangle 146"/>
          <p:cNvSpPr/>
          <p:nvPr/>
        </p:nvSpPr>
        <p:spPr>
          <a:xfrm>
            <a:off x="2182885" y="7917095"/>
            <a:ext cx="964173" cy="748625"/>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EESC </a:t>
            </a:r>
            <a:r>
              <a:rPr lang="en-CA" sz="1200" dirty="0" smtClean="0">
                <a:solidFill>
                  <a:schemeClr val="tx1"/>
                </a:solidFill>
              </a:rPr>
              <a:t>101</a:t>
            </a:r>
            <a:endParaRPr lang="en-CA" sz="1200" dirty="0">
              <a:solidFill>
                <a:schemeClr val="tx1"/>
              </a:solidFill>
            </a:endParaRPr>
          </a:p>
        </p:txBody>
      </p:sp>
      <p:sp>
        <p:nvSpPr>
          <p:cNvPr id="148" name="Rectangle 147"/>
          <p:cNvSpPr/>
          <p:nvPr/>
        </p:nvSpPr>
        <p:spPr>
          <a:xfrm>
            <a:off x="5884450" y="14297847"/>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EESC 205 Introduction to Hydrology</a:t>
            </a:r>
          </a:p>
          <a:p>
            <a:pPr algn="ctr"/>
            <a:r>
              <a:rPr lang="en-CA" sz="1200" dirty="0" smtClean="0">
                <a:solidFill>
                  <a:schemeClr val="tx1"/>
                </a:solidFill>
              </a:rPr>
              <a:t>(two of EESC 101, 111, 121)</a:t>
            </a:r>
            <a:endParaRPr lang="en-CA" sz="1200" dirty="0">
              <a:solidFill>
                <a:schemeClr val="tx1"/>
              </a:solidFill>
            </a:endParaRPr>
          </a:p>
        </p:txBody>
      </p:sp>
      <p:sp>
        <p:nvSpPr>
          <p:cNvPr id="150" name="Rectangle 149"/>
          <p:cNvSpPr/>
          <p:nvPr/>
        </p:nvSpPr>
        <p:spPr>
          <a:xfrm>
            <a:off x="4084134" y="9775930"/>
            <a:ext cx="1512000" cy="1607998"/>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Statistics Requirement: </a:t>
            </a:r>
          </a:p>
          <a:p>
            <a:pPr algn="ctr"/>
            <a:r>
              <a:rPr lang="en-CA" sz="1200" dirty="0" smtClean="0">
                <a:solidFill>
                  <a:schemeClr val="tx1"/>
                </a:solidFill>
              </a:rPr>
              <a:t>One of</a:t>
            </a:r>
          </a:p>
          <a:p>
            <a:pPr algn="ctr"/>
            <a:r>
              <a:rPr lang="en-CA" sz="1200" dirty="0" smtClean="0">
                <a:solidFill>
                  <a:schemeClr val="tx1"/>
                </a:solidFill>
              </a:rPr>
              <a:t>BIOL 202 or STAT 230</a:t>
            </a:r>
          </a:p>
          <a:p>
            <a:pPr algn="ctr"/>
            <a:r>
              <a:rPr lang="en-CA" sz="1200" dirty="0" smtClean="0">
                <a:solidFill>
                  <a:schemeClr val="tx1"/>
                </a:solidFill>
              </a:rPr>
              <a:t>(GEOG 271 possible in term 2)</a:t>
            </a:r>
          </a:p>
        </p:txBody>
      </p:sp>
      <p:sp>
        <p:nvSpPr>
          <p:cNvPr id="151" name="Rectangle 150"/>
          <p:cNvSpPr/>
          <p:nvPr/>
        </p:nvSpPr>
        <p:spPr>
          <a:xfrm>
            <a:off x="5821079" y="9050884"/>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BIOL 201 Introduction to Evolution and Ecology</a:t>
            </a:r>
            <a:endParaRPr lang="en-CA" sz="1200" dirty="0">
              <a:solidFill>
                <a:schemeClr val="tx1"/>
              </a:solidFill>
            </a:endParaRPr>
          </a:p>
        </p:txBody>
      </p:sp>
      <p:cxnSp>
        <p:nvCxnSpPr>
          <p:cNvPr id="155" name="Straight Arrow Connector 154"/>
          <p:cNvCxnSpPr>
            <a:stCxn id="151" idx="3"/>
            <a:endCxn id="205" idx="1"/>
          </p:cNvCxnSpPr>
          <p:nvPr/>
        </p:nvCxnSpPr>
        <p:spPr>
          <a:xfrm>
            <a:off x="7333079" y="9590884"/>
            <a:ext cx="1031555" cy="5028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stCxn id="148" idx="3"/>
            <a:endCxn id="162" idx="1"/>
          </p:cNvCxnSpPr>
          <p:nvPr/>
        </p:nvCxnSpPr>
        <p:spPr>
          <a:xfrm flipV="1">
            <a:off x="7396450" y="10523482"/>
            <a:ext cx="4601555" cy="43143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9" name="Rectangle 158"/>
          <p:cNvSpPr/>
          <p:nvPr/>
        </p:nvSpPr>
        <p:spPr>
          <a:xfrm>
            <a:off x="967740" y="8855026"/>
            <a:ext cx="1005840" cy="6096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Math </a:t>
            </a:r>
            <a:r>
              <a:rPr lang="en-CA" sz="1200" dirty="0" smtClean="0">
                <a:solidFill>
                  <a:schemeClr val="tx1"/>
                </a:solidFill>
              </a:rPr>
              <a:t>100</a:t>
            </a:r>
            <a:endParaRPr lang="en-CA" sz="1200" dirty="0">
              <a:solidFill>
                <a:schemeClr val="tx1"/>
              </a:solidFill>
            </a:endParaRPr>
          </a:p>
        </p:txBody>
      </p:sp>
      <p:sp>
        <p:nvSpPr>
          <p:cNvPr id="163" name="Rectangle 162"/>
          <p:cNvSpPr/>
          <p:nvPr/>
        </p:nvSpPr>
        <p:spPr>
          <a:xfrm>
            <a:off x="2182886" y="8855026"/>
            <a:ext cx="964173" cy="6096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Math </a:t>
            </a:r>
            <a:r>
              <a:rPr lang="en-CA" sz="1200" dirty="0" smtClean="0">
                <a:solidFill>
                  <a:schemeClr val="tx1"/>
                </a:solidFill>
              </a:rPr>
              <a:t>101</a:t>
            </a:r>
            <a:endParaRPr lang="en-CA" sz="1200" dirty="0">
              <a:solidFill>
                <a:schemeClr val="tx1"/>
              </a:solidFill>
            </a:endParaRPr>
          </a:p>
        </p:txBody>
      </p:sp>
      <p:sp>
        <p:nvSpPr>
          <p:cNvPr id="167" name="Rectangle 166"/>
          <p:cNvSpPr/>
          <p:nvPr/>
        </p:nvSpPr>
        <p:spPr>
          <a:xfrm>
            <a:off x="4108319" y="15527108"/>
            <a:ext cx="3240000" cy="1278964"/>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Communications Requirement:</a:t>
            </a:r>
          </a:p>
          <a:p>
            <a:pPr algn="ctr"/>
            <a:r>
              <a:rPr lang="en-US" sz="1200" dirty="0" smtClean="0">
                <a:solidFill>
                  <a:schemeClr val="tx1"/>
                </a:solidFill>
              </a:rPr>
              <a:t>6 </a:t>
            </a:r>
            <a:r>
              <a:rPr lang="en-US" sz="1200" dirty="0">
                <a:solidFill>
                  <a:schemeClr val="tx1"/>
                </a:solidFill>
              </a:rPr>
              <a:t>credits from ENGL 109, 112, 113, 114, 150, 151, 153, 154, 155, 156, or program-approved communications courses (APSC 176, APSC 201, BIOL 313, UBCV ENGL 301 Distance Ed)</a:t>
            </a:r>
          </a:p>
          <a:p>
            <a:pPr algn="ctr"/>
            <a:endParaRPr lang="en-CA" sz="1200" dirty="0">
              <a:solidFill>
                <a:schemeClr val="tx1"/>
              </a:solidFill>
            </a:endParaRPr>
          </a:p>
        </p:txBody>
      </p:sp>
      <p:sp>
        <p:nvSpPr>
          <p:cNvPr id="169" name="Rectangle 168"/>
          <p:cNvSpPr/>
          <p:nvPr/>
        </p:nvSpPr>
        <p:spPr>
          <a:xfrm>
            <a:off x="966535" y="12607923"/>
            <a:ext cx="973525" cy="1327321"/>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BIOL 116 Biology for Science Majors I</a:t>
            </a:r>
          </a:p>
          <a:p>
            <a:pPr algn="ctr"/>
            <a:r>
              <a:rPr lang="en-CA" sz="1200" i="1" dirty="0" smtClean="0">
                <a:solidFill>
                  <a:schemeClr val="tx1"/>
                </a:solidFill>
              </a:rPr>
              <a:t>COM-B</a:t>
            </a:r>
            <a:endParaRPr lang="en-CA" sz="1200" i="1" dirty="0">
              <a:solidFill>
                <a:schemeClr val="tx1"/>
              </a:solidFill>
            </a:endParaRPr>
          </a:p>
        </p:txBody>
      </p:sp>
      <p:sp>
        <p:nvSpPr>
          <p:cNvPr id="170" name="Rectangle 169"/>
          <p:cNvSpPr/>
          <p:nvPr/>
        </p:nvSpPr>
        <p:spPr>
          <a:xfrm>
            <a:off x="2224157" y="12626592"/>
            <a:ext cx="920279" cy="1308652"/>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BIOL 125 Biology for Science Majors </a:t>
            </a:r>
            <a:r>
              <a:rPr lang="en-CA" sz="1200" dirty="0" smtClean="0">
                <a:solidFill>
                  <a:schemeClr val="tx1"/>
                </a:solidFill>
              </a:rPr>
              <a:t>II</a:t>
            </a:r>
            <a:endParaRPr lang="en-CA" sz="1200" dirty="0">
              <a:solidFill>
                <a:schemeClr val="tx1"/>
              </a:solidFill>
            </a:endParaRPr>
          </a:p>
        </p:txBody>
      </p:sp>
      <p:sp>
        <p:nvSpPr>
          <p:cNvPr id="184" name="Rectangle 183"/>
          <p:cNvSpPr/>
          <p:nvPr/>
        </p:nvSpPr>
        <p:spPr>
          <a:xfrm>
            <a:off x="5836319" y="7738336"/>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CHEM 201 Introduction to Physical Chemistry</a:t>
            </a:r>
          </a:p>
          <a:p>
            <a:pPr algn="ctr"/>
            <a:endParaRPr lang="en-CA" sz="1200" i="1" dirty="0">
              <a:solidFill>
                <a:schemeClr val="tx1"/>
              </a:solidFill>
            </a:endParaRPr>
          </a:p>
        </p:txBody>
      </p:sp>
      <p:sp>
        <p:nvSpPr>
          <p:cNvPr id="204" name="Rectangle 203"/>
          <p:cNvSpPr/>
          <p:nvPr/>
        </p:nvSpPr>
        <p:spPr>
          <a:xfrm>
            <a:off x="10107096" y="7690937"/>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CHEM 301 Aqueous Environmental Chemistry</a:t>
            </a:r>
            <a:endParaRPr lang="en-CA" sz="1200" i="1" dirty="0">
              <a:solidFill>
                <a:schemeClr val="tx1"/>
              </a:solidFill>
            </a:endParaRPr>
          </a:p>
        </p:txBody>
      </p:sp>
      <p:sp>
        <p:nvSpPr>
          <p:cNvPr id="205" name="Rectangle 204"/>
          <p:cNvSpPr/>
          <p:nvPr/>
        </p:nvSpPr>
        <p:spPr>
          <a:xfrm>
            <a:off x="8364634" y="9553726"/>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BIOL 308 Population Biology</a:t>
            </a:r>
          </a:p>
          <a:p>
            <a:pPr algn="ctr"/>
            <a:r>
              <a:rPr lang="en-CA" sz="1200" i="1" dirty="0" smtClean="0">
                <a:solidFill>
                  <a:schemeClr val="tx1"/>
                </a:solidFill>
              </a:rPr>
              <a:t>(one of BIOL 201, 2003, GEOG 207)</a:t>
            </a:r>
            <a:endParaRPr lang="en-CA" sz="1200" i="1" dirty="0">
              <a:solidFill>
                <a:schemeClr val="tx1"/>
              </a:solidFill>
            </a:endParaRPr>
          </a:p>
        </p:txBody>
      </p:sp>
      <p:sp>
        <p:nvSpPr>
          <p:cNvPr id="219" name="Rectangle 218"/>
          <p:cNvSpPr/>
          <p:nvPr/>
        </p:nvSpPr>
        <p:spPr>
          <a:xfrm>
            <a:off x="735240" y="7659609"/>
            <a:ext cx="2548485" cy="12649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220" name="Rectangle 219"/>
          <p:cNvSpPr/>
          <p:nvPr/>
        </p:nvSpPr>
        <p:spPr>
          <a:xfrm>
            <a:off x="3908165" y="7659608"/>
            <a:ext cx="3600000" cy="12649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222" name="Rectangle 221"/>
          <p:cNvSpPr/>
          <p:nvPr/>
        </p:nvSpPr>
        <p:spPr>
          <a:xfrm>
            <a:off x="4085679" y="17878173"/>
            <a:ext cx="1534640" cy="136930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3 Credits Non Science Elective Requirement</a:t>
            </a:r>
          </a:p>
          <a:p>
            <a:pPr algn="ctr"/>
            <a:r>
              <a:rPr lang="en-CA" sz="1200" dirty="0" smtClean="0">
                <a:solidFill>
                  <a:schemeClr val="tx1"/>
                </a:solidFill>
              </a:rPr>
              <a:t>#1</a:t>
            </a:r>
          </a:p>
          <a:p>
            <a:pPr algn="ctr"/>
            <a:endParaRPr lang="en-CA" sz="1200" dirty="0">
              <a:solidFill>
                <a:schemeClr val="tx1"/>
              </a:solidFill>
            </a:endParaRPr>
          </a:p>
        </p:txBody>
      </p:sp>
      <p:sp>
        <p:nvSpPr>
          <p:cNvPr id="241" name="TextBox 240"/>
          <p:cNvSpPr txBox="1"/>
          <p:nvPr/>
        </p:nvSpPr>
        <p:spPr>
          <a:xfrm>
            <a:off x="3908164" y="26245113"/>
            <a:ext cx="3711835" cy="4154984"/>
          </a:xfrm>
          <a:prstGeom prst="rect">
            <a:avLst/>
          </a:prstGeom>
          <a:noFill/>
        </p:spPr>
        <p:txBody>
          <a:bodyPr wrap="square" rtlCol="0">
            <a:spAutoFit/>
          </a:bodyPr>
          <a:lstStyle/>
          <a:p>
            <a:r>
              <a:rPr lang="en-CA" sz="1200" dirty="0"/>
              <a:t>Notes: </a:t>
            </a:r>
          </a:p>
          <a:p>
            <a:pPr marL="228609" indent="-228609">
              <a:buFontTx/>
              <a:buAutoNum type="arabicPeriod"/>
            </a:pPr>
            <a:r>
              <a:rPr lang="en-CA" sz="1200" dirty="0"/>
              <a:t>The university requires programs to have 6 credits of electives in Years 1 and 2.  The Calendar lists EESC 212 in Year 3, and 6 credits of electives in </a:t>
            </a:r>
            <a:r>
              <a:rPr lang="en-CA" sz="1200" dirty="0" smtClean="0"/>
              <a:t>Year </a:t>
            </a:r>
            <a:r>
              <a:rPr lang="en-CA" sz="1200" dirty="0"/>
              <a:t>2.  Students </a:t>
            </a:r>
            <a:r>
              <a:rPr lang="en-CA" sz="1200" dirty="0" smtClean="0"/>
              <a:t>have the option to </a:t>
            </a:r>
            <a:r>
              <a:rPr lang="en-CA" sz="1200" dirty="0"/>
              <a:t>choose to take EESC 212 in 2</a:t>
            </a:r>
            <a:r>
              <a:rPr lang="en-CA" sz="1200" baseline="30000" dirty="0"/>
              <a:t>nd</a:t>
            </a:r>
            <a:r>
              <a:rPr lang="en-CA" sz="1200" dirty="0"/>
              <a:t> </a:t>
            </a:r>
            <a:r>
              <a:rPr lang="en-CA" sz="1200" dirty="0" smtClean="0"/>
              <a:t>year, or in 2nd Term of Third year as in the calendar.   Both work equally for program progression.  </a:t>
            </a:r>
            <a:r>
              <a:rPr lang="en-CA" sz="1200" dirty="0"/>
              <a:t>In some cases </a:t>
            </a:r>
            <a:r>
              <a:rPr lang="en-CA" sz="1200" dirty="0" smtClean="0"/>
              <a:t>electing to take EESC 212 in Year 2 may </a:t>
            </a:r>
            <a:r>
              <a:rPr lang="en-CA" sz="1200" dirty="0"/>
              <a:t>make scheduling easier in Year 3.  </a:t>
            </a:r>
            <a:r>
              <a:rPr lang="en-CA" sz="1200" dirty="0" smtClean="0"/>
              <a:t>See an advisor.  If you take EESC 212 in 2</a:t>
            </a:r>
            <a:r>
              <a:rPr lang="en-CA" sz="1200" baseline="30000" dirty="0" smtClean="0"/>
              <a:t>nd</a:t>
            </a:r>
            <a:r>
              <a:rPr lang="en-CA" sz="1200" dirty="0" smtClean="0"/>
              <a:t> term third year, then take another 3 credits of Electives in Term 2 Year 2.</a:t>
            </a:r>
            <a:endParaRPr lang="en-CA" sz="1200" dirty="0"/>
          </a:p>
          <a:p>
            <a:pPr marL="228609" indent="-228609">
              <a:buFontTx/>
              <a:buAutoNum type="arabicPeriod"/>
            </a:pPr>
            <a:r>
              <a:rPr lang="en-CA" sz="1200" dirty="0" smtClean="0"/>
              <a:t>Only </a:t>
            </a:r>
            <a:r>
              <a:rPr lang="en-CA" sz="1200" dirty="0"/>
              <a:t>selected prerequisites have been shown for important connections. Check the calendar for a full listing.</a:t>
            </a:r>
          </a:p>
          <a:p>
            <a:pPr marL="228609" indent="-228609">
              <a:buFontTx/>
              <a:buAutoNum type="arabicPeriod"/>
            </a:pPr>
            <a:r>
              <a:rPr lang="en-CA" sz="1200" dirty="0"/>
              <a:t>If you are electing not to take 5 courses per term, then student should see an advisor to determine which courses to not take.  </a:t>
            </a:r>
          </a:p>
          <a:p>
            <a:pPr marL="228609" indent="-228609">
              <a:buAutoNum type="arabicPeriod"/>
            </a:pPr>
            <a:r>
              <a:rPr lang="en-CA" sz="1200" dirty="0" smtClean="0"/>
              <a:t>Students are advised not to delay other 200 level BIOL or CHEM courses to 3</a:t>
            </a:r>
            <a:r>
              <a:rPr lang="en-CA" sz="1200" baseline="30000" dirty="0" smtClean="0"/>
              <a:t>rd</a:t>
            </a:r>
            <a:r>
              <a:rPr lang="en-CA" sz="1200" dirty="0" smtClean="0"/>
              <a:t> year as these are hard prerequisites for other upper level required BIOL and CHEM courses. </a:t>
            </a:r>
          </a:p>
        </p:txBody>
      </p:sp>
      <p:sp>
        <p:nvSpPr>
          <p:cNvPr id="242" name="Rectangle 241"/>
          <p:cNvSpPr/>
          <p:nvPr/>
        </p:nvSpPr>
        <p:spPr>
          <a:xfrm>
            <a:off x="14119391" y="18764471"/>
            <a:ext cx="3314784" cy="1440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3</a:t>
            </a:r>
            <a:r>
              <a:rPr lang="en-CA" sz="1200" dirty="0" smtClean="0">
                <a:solidFill>
                  <a:schemeClr val="tx1"/>
                </a:solidFill>
              </a:rPr>
              <a:t> credits General Science Electives</a:t>
            </a:r>
          </a:p>
          <a:p>
            <a:pPr algn="ctr"/>
            <a:r>
              <a:rPr lang="en-CA" sz="1200" smtClean="0">
                <a:solidFill>
                  <a:schemeClr val="tx1"/>
                </a:solidFill>
              </a:rPr>
              <a:t>Or None if </a:t>
            </a:r>
            <a:r>
              <a:rPr lang="en-CA" sz="1200" dirty="0" smtClean="0">
                <a:solidFill>
                  <a:schemeClr val="tx1"/>
                </a:solidFill>
              </a:rPr>
              <a:t>summer course already taken.</a:t>
            </a:r>
          </a:p>
          <a:p>
            <a:pPr algn="ctr"/>
            <a:r>
              <a:rPr lang="en-CA" sz="1200" dirty="0" smtClean="0">
                <a:solidFill>
                  <a:schemeClr val="tx1"/>
                </a:solidFill>
              </a:rPr>
              <a:t>Between </a:t>
            </a:r>
            <a:r>
              <a:rPr lang="en-CA" sz="1200" dirty="0">
                <a:solidFill>
                  <a:schemeClr val="tx1"/>
                </a:solidFill>
              </a:rPr>
              <a:t>Non-Science and General Electives, 6 credits must by u/l.</a:t>
            </a:r>
          </a:p>
        </p:txBody>
      </p:sp>
      <p:sp>
        <p:nvSpPr>
          <p:cNvPr id="246" name="TextBox 245"/>
          <p:cNvSpPr txBox="1"/>
          <p:nvPr/>
        </p:nvSpPr>
        <p:spPr>
          <a:xfrm>
            <a:off x="8517627" y="26236652"/>
            <a:ext cx="3272082" cy="1938992"/>
          </a:xfrm>
          <a:prstGeom prst="rect">
            <a:avLst/>
          </a:prstGeom>
          <a:noFill/>
        </p:spPr>
        <p:txBody>
          <a:bodyPr wrap="square" rtlCol="0">
            <a:spAutoFit/>
          </a:bodyPr>
          <a:lstStyle/>
          <a:p>
            <a:r>
              <a:rPr lang="en-CA" sz="1200" dirty="0"/>
              <a:t>Notes: </a:t>
            </a:r>
          </a:p>
          <a:p>
            <a:pPr marL="228609" indent="-228609">
              <a:buAutoNum type="arabicPeriod"/>
            </a:pPr>
            <a:r>
              <a:rPr lang="en-CA" sz="1200" dirty="0" smtClean="0"/>
              <a:t>EESC 313 and EESC 413 may be offered in alternating years.  Check with a program advisor to determine the order expected for your progression.</a:t>
            </a:r>
          </a:p>
          <a:p>
            <a:pPr marL="182570" indent="-182570"/>
            <a:r>
              <a:rPr lang="en-CA" sz="1200" dirty="0" smtClean="0"/>
              <a:t>2. If you plan on choosing </a:t>
            </a:r>
            <a:r>
              <a:rPr lang="en-CA" sz="1200" dirty="0"/>
              <a:t>EESC 423 from this </a:t>
            </a:r>
            <a:r>
              <a:rPr lang="en-CA" sz="1200" dirty="0" smtClean="0"/>
              <a:t>group,  </a:t>
            </a:r>
            <a:r>
              <a:rPr lang="en-CA" sz="1200" dirty="0"/>
              <a:t>it is suggested </a:t>
            </a:r>
            <a:r>
              <a:rPr lang="en-CA" sz="1200" dirty="0" smtClean="0"/>
              <a:t>that it be </a:t>
            </a:r>
            <a:r>
              <a:rPr lang="en-CA" sz="1200" dirty="0"/>
              <a:t>taken in first term of 4</a:t>
            </a:r>
            <a:r>
              <a:rPr lang="en-CA" sz="1200" baseline="30000" dirty="0"/>
              <a:t>th</a:t>
            </a:r>
            <a:r>
              <a:rPr lang="en-CA" sz="1200" dirty="0"/>
              <a:t> year and an additional Arts or Science elective be </a:t>
            </a:r>
            <a:r>
              <a:rPr lang="en-CA" sz="1200" dirty="0" smtClean="0"/>
              <a:t>taken</a:t>
            </a:r>
            <a:r>
              <a:rPr lang="en-CA" sz="1200" dirty="0"/>
              <a:t> </a:t>
            </a:r>
            <a:r>
              <a:rPr lang="en-CA" sz="1200" dirty="0" smtClean="0"/>
              <a:t>in 3</a:t>
            </a:r>
            <a:r>
              <a:rPr lang="en-CA" sz="1200" baseline="30000" dirty="0" smtClean="0"/>
              <a:t>rd</a:t>
            </a:r>
            <a:r>
              <a:rPr lang="en-CA" sz="1200" dirty="0" smtClean="0"/>
              <a:t> year.</a:t>
            </a:r>
          </a:p>
          <a:p>
            <a:pPr marL="182570" indent="-182570"/>
            <a:endParaRPr lang="en-CA" sz="1200" dirty="0"/>
          </a:p>
        </p:txBody>
      </p:sp>
      <p:sp>
        <p:nvSpPr>
          <p:cNvPr id="247" name="Rectangle 246"/>
          <p:cNvSpPr/>
          <p:nvPr/>
        </p:nvSpPr>
        <p:spPr>
          <a:xfrm>
            <a:off x="8194660" y="7610697"/>
            <a:ext cx="3600000" cy="125937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251" name="Rectangle 250"/>
          <p:cNvSpPr/>
          <p:nvPr/>
        </p:nvSpPr>
        <p:spPr>
          <a:xfrm>
            <a:off x="4149683" y="23407092"/>
            <a:ext cx="1378113" cy="110751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Sept to Oct</a:t>
            </a:r>
          </a:p>
          <a:p>
            <a:pPr algn="ctr"/>
            <a:r>
              <a:rPr lang="en-CA" sz="1200" dirty="0">
                <a:solidFill>
                  <a:schemeClr val="tx1"/>
                </a:solidFill>
              </a:rPr>
              <a:t>Explore options with Go Global for 3</a:t>
            </a:r>
            <a:r>
              <a:rPr lang="en-CA" sz="1200" baseline="30000" dirty="0">
                <a:solidFill>
                  <a:schemeClr val="tx1"/>
                </a:solidFill>
              </a:rPr>
              <a:t>nd</a:t>
            </a:r>
            <a:r>
              <a:rPr lang="en-CA" sz="1200" dirty="0">
                <a:solidFill>
                  <a:schemeClr val="tx1"/>
                </a:solidFill>
              </a:rPr>
              <a:t> Year</a:t>
            </a:r>
          </a:p>
        </p:txBody>
      </p:sp>
      <p:sp>
        <p:nvSpPr>
          <p:cNvPr id="252" name="Rectangle 251"/>
          <p:cNvSpPr/>
          <p:nvPr/>
        </p:nvSpPr>
        <p:spPr>
          <a:xfrm>
            <a:off x="8537314" y="23358714"/>
            <a:ext cx="3252394" cy="938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Go Global ????</a:t>
            </a:r>
          </a:p>
        </p:txBody>
      </p:sp>
      <p:sp>
        <p:nvSpPr>
          <p:cNvPr id="253" name="Rectangle 252"/>
          <p:cNvSpPr/>
          <p:nvPr/>
        </p:nvSpPr>
        <p:spPr>
          <a:xfrm>
            <a:off x="8537314" y="24464701"/>
            <a:ext cx="1031479" cy="135915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August: Investigate and apply for Coop</a:t>
            </a:r>
          </a:p>
        </p:txBody>
      </p:sp>
      <p:sp>
        <p:nvSpPr>
          <p:cNvPr id="264" name="Rectangle 263"/>
          <p:cNvSpPr/>
          <p:nvPr/>
        </p:nvSpPr>
        <p:spPr>
          <a:xfrm>
            <a:off x="13989201" y="7659608"/>
            <a:ext cx="3772407" cy="126225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272" name="TextBox 271"/>
          <p:cNvSpPr txBox="1"/>
          <p:nvPr/>
        </p:nvSpPr>
        <p:spPr>
          <a:xfrm>
            <a:off x="13989200" y="26293985"/>
            <a:ext cx="3772407" cy="2308324"/>
          </a:xfrm>
          <a:prstGeom prst="rect">
            <a:avLst/>
          </a:prstGeom>
          <a:noFill/>
        </p:spPr>
        <p:txBody>
          <a:bodyPr wrap="square" rtlCol="0">
            <a:spAutoFit/>
          </a:bodyPr>
          <a:lstStyle/>
          <a:p>
            <a:r>
              <a:rPr lang="en-CA" sz="1200" dirty="0"/>
              <a:t>Notes:</a:t>
            </a:r>
          </a:p>
          <a:p>
            <a:pPr marL="228600" indent="-228600">
              <a:buAutoNum type="arabicPeriod"/>
            </a:pPr>
            <a:r>
              <a:rPr lang="en-CA" sz="1200" dirty="0" smtClean="0"/>
              <a:t>Honours </a:t>
            </a:r>
            <a:r>
              <a:rPr lang="en-CA" sz="1200" dirty="0"/>
              <a:t>program admission </a:t>
            </a:r>
            <a:r>
              <a:rPr lang="en-CA" sz="1200" dirty="0" smtClean="0"/>
              <a:t>requires a minimum 76% </a:t>
            </a:r>
            <a:r>
              <a:rPr lang="en-CA" sz="1200" dirty="0"/>
              <a:t>overall </a:t>
            </a:r>
            <a:r>
              <a:rPr lang="en-CA" sz="1200" dirty="0" smtClean="0"/>
              <a:t>grade average.</a:t>
            </a:r>
          </a:p>
          <a:p>
            <a:pPr marL="228600" indent="-228600">
              <a:buAutoNum type="arabicPeriod"/>
            </a:pPr>
            <a:r>
              <a:rPr lang="en-CA" sz="1200" dirty="0" smtClean="0"/>
              <a:t>EESC </a:t>
            </a:r>
            <a:r>
              <a:rPr lang="en-CA" sz="1200" dirty="0"/>
              <a:t>313 and EESC 413 may be offered in alternating years.  Check with a program advisor to determine the order expected for your progression</a:t>
            </a:r>
            <a:r>
              <a:rPr lang="en-CA" sz="1200" dirty="0" smtClean="0"/>
              <a:t>.</a:t>
            </a:r>
          </a:p>
          <a:p>
            <a:pPr marL="228600" indent="-228600">
              <a:buAutoNum type="arabicPeriod"/>
            </a:pPr>
            <a:r>
              <a:rPr lang="en-CA" sz="1200" dirty="0" smtClean="0"/>
              <a:t>If </a:t>
            </a:r>
            <a:r>
              <a:rPr lang="en-CA" sz="1200" dirty="0"/>
              <a:t>you plan to take a field course after 4</a:t>
            </a:r>
            <a:r>
              <a:rPr lang="en-CA" sz="1200" baseline="30000" dirty="0"/>
              <a:t>th</a:t>
            </a:r>
            <a:r>
              <a:rPr lang="en-CA" sz="1200" dirty="0"/>
              <a:t> year, and need the credits to graduate, please see an advisor early.  The Dean’s office needs to make special note for graduation applications where a May course is part of the 120 credits.</a:t>
            </a:r>
          </a:p>
          <a:p>
            <a:pPr marL="228600" indent="-228600">
              <a:buAutoNum type="arabicPeriod"/>
            </a:pPr>
            <a:endParaRPr lang="en-CA" sz="1200" dirty="0"/>
          </a:p>
        </p:txBody>
      </p:sp>
      <p:sp>
        <p:nvSpPr>
          <p:cNvPr id="274" name="Rectangle 273"/>
          <p:cNvSpPr/>
          <p:nvPr/>
        </p:nvSpPr>
        <p:spPr>
          <a:xfrm>
            <a:off x="9677347" y="24464701"/>
            <a:ext cx="961443" cy="135915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September to January investigate research project for URA/USRA</a:t>
            </a:r>
          </a:p>
        </p:txBody>
      </p:sp>
      <p:sp>
        <p:nvSpPr>
          <p:cNvPr id="275" name="Rectangle 274"/>
          <p:cNvSpPr/>
          <p:nvPr/>
        </p:nvSpPr>
        <p:spPr>
          <a:xfrm>
            <a:off x="10727689" y="24447995"/>
            <a:ext cx="1062019" cy="137586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Jan  to March</a:t>
            </a:r>
          </a:p>
          <a:p>
            <a:pPr algn="ctr"/>
            <a:r>
              <a:rPr lang="en-CA" sz="1200" dirty="0">
                <a:solidFill>
                  <a:schemeClr val="tx1"/>
                </a:solidFill>
              </a:rPr>
              <a:t>Investigate Honours Program and Honours thesis.</a:t>
            </a:r>
          </a:p>
        </p:txBody>
      </p:sp>
      <p:sp>
        <p:nvSpPr>
          <p:cNvPr id="276" name="TextBox 275"/>
          <p:cNvSpPr txBox="1"/>
          <p:nvPr/>
        </p:nvSpPr>
        <p:spPr>
          <a:xfrm>
            <a:off x="685801" y="24141535"/>
            <a:ext cx="1518364" cy="646331"/>
          </a:xfrm>
          <a:prstGeom prst="rect">
            <a:avLst/>
          </a:prstGeom>
          <a:noFill/>
        </p:spPr>
        <p:txBody>
          <a:bodyPr wrap="none" rtlCol="0">
            <a:spAutoFit/>
          </a:bodyPr>
          <a:lstStyle/>
          <a:p>
            <a:r>
              <a:rPr lang="en-CA" sz="1800" b="1" dirty="0"/>
              <a:t>Additional </a:t>
            </a:r>
          </a:p>
          <a:p>
            <a:r>
              <a:rPr lang="en-CA" sz="1800" b="1" dirty="0"/>
              <a:t>Opportunities</a:t>
            </a:r>
          </a:p>
        </p:txBody>
      </p:sp>
      <p:sp>
        <p:nvSpPr>
          <p:cNvPr id="277" name="Rectangle 276"/>
          <p:cNvSpPr/>
          <p:nvPr/>
        </p:nvSpPr>
        <p:spPr>
          <a:xfrm>
            <a:off x="12497304" y="23378823"/>
            <a:ext cx="1258812" cy="240995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Investigate Graduate School Options</a:t>
            </a:r>
          </a:p>
        </p:txBody>
      </p:sp>
      <p:sp>
        <p:nvSpPr>
          <p:cNvPr id="278" name="Rectangle 277"/>
          <p:cNvSpPr/>
          <p:nvPr/>
        </p:nvSpPr>
        <p:spPr>
          <a:xfrm>
            <a:off x="14236624" y="23368787"/>
            <a:ext cx="1494309" cy="241347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Sept/Oct: NSERC Scholarships and enquiries to specific Professors/programs about graduate schools.</a:t>
            </a:r>
          </a:p>
        </p:txBody>
      </p:sp>
      <p:sp>
        <p:nvSpPr>
          <p:cNvPr id="279" name="Rectangle 278"/>
          <p:cNvSpPr/>
          <p:nvPr/>
        </p:nvSpPr>
        <p:spPr>
          <a:xfrm>
            <a:off x="16230715" y="23368787"/>
            <a:ext cx="1408313" cy="92020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Dec/Jan: Deadlines for most graduate schools fall in this range</a:t>
            </a:r>
            <a:endParaRPr lang="en-CA" sz="1200" dirty="0">
              <a:solidFill>
                <a:schemeClr val="tx1"/>
              </a:solidFill>
            </a:endParaRPr>
          </a:p>
        </p:txBody>
      </p:sp>
      <p:sp>
        <p:nvSpPr>
          <p:cNvPr id="282" name="Rectangle 281"/>
          <p:cNvSpPr/>
          <p:nvPr/>
        </p:nvSpPr>
        <p:spPr>
          <a:xfrm>
            <a:off x="2842731" y="20854366"/>
            <a:ext cx="1549707" cy="716039"/>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Declare Major on Registration</a:t>
            </a:r>
          </a:p>
        </p:txBody>
      </p:sp>
      <p:cxnSp>
        <p:nvCxnSpPr>
          <p:cNvPr id="284" name="Straight Connector 283"/>
          <p:cNvCxnSpPr/>
          <p:nvPr/>
        </p:nvCxnSpPr>
        <p:spPr>
          <a:xfrm flipV="1">
            <a:off x="704851" y="26055430"/>
            <a:ext cx="18959268" cy="12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5" name="Straight Connector 284"/>
          <p:cNvCxnSpPr/>
          <p:nvPr/>
        </p:nvCxnSpPr>
        <p:spPr>
          <a:xfrm flipV="1">
            <a:off x="704851" y="23102848"/>
            <a:ext cx="18959268" cy="86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6" name="Straight Connector 285"/>
          <p:cNvCxnSpPr/>
          <p:nvPr/>
        </p:nvCxnSpPr>
        <p:spPr>
          <a:xfrm flipV="1">
            <a:off x="704851" y="20493268"/>
            <a:ext cx="19078883" cy="97713"/>
          </a:xfrm>
          <a:prstGeom prst="line">
            <a:avLst/>
          </a:prstGeom>
        </p:spPr>
        <p:style>
          <a:lnRef idx="1">
            <a:schemeClr val="accent1"/>
          </a:lnRef>
          <a:fillRef idx="0">
            <a:schemeClr val="accent1"/>
          </a:fillRef>
          <a:effectRef idx="0">
            <a:schemeClr val="accent1"/>
          </a:effectRef>
          <a:fontRef idx="minor">
            <a:schemeClr val="tx1"/>
          </a:fontRef>
        </p:style>
      </p:cxnSp>
      <p:sp>
        <p:nvSpPr>
          <p:cNvPr id="287" name="TextBox 286"/>
          <p:cNvSpPr txBox="1"/>
          <p:nvPr/>
        </p:nvSpPr>
        <p:spPr>
          <a:xfrm>
            <a:off x="648038" y="20664681"/>
            <a:ext cx="1292022" cy="1200329"/>
          </a:xfrm>
          <a:prstGeom prst="rect">
            <a:avLst/>
          </a:prstGeom>
          <a:noFill/>
        </p:spPr>
        <p:txBody>
          <a:bodyPr wrap="square" rtlCol="0">
            <a:spAutoFit/>
          </a:bodyPr>
          <a:lstStyle/>
          <a:p>
            <a:r>
              <a:rPr lang="en-CA" sz="1800" b="1" dirty="0"/>
              <a:t>Key Program Decisions</a:t>
            </a:r>
          </a:p>
          <a:p>
            <a:endParaRPr lang="en-CA" sz="1800" b="1" dirty="0"/>
          </a:p>
        </p:txBody>
      </p:sp>
      <p:sp>
        <p:nvSpPr>
          <p:cNvPr id="288" name="Rectangle 287"/>
          <p:cNvSpPr/>
          <p:nvPr/>
        </p:nvSpPr>
        <p:spPr>
          <a:xfrm>
            <a:off x="14234214" y="20751825"/>
            <a:ext cx="1144826" cy="1358187"/>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Sept to Oct </a:t>
            </a:r>
          </a:p>
          <a:p>
            <a:pPr algn="ctr"/>
            <a:r>
              <a:rPr lang="en-CA" sz="1200" dirty="0">
                <a:solidFill>
                  <a:schemeClr val="tx1"/>
                </a:solidFill>
              </a:rPr>
              <a:t>Decision required on attending graduate school in following year</a:t>
            </a:r>
          </a:p>
        </p:txBody>
      </p:sp>
      <p:sp>
        <p:nvSpPr>
          <p:cNvPr id="289" name="TextBox 288"/>
          <p:cNvSpPr txBox="1"/>
          <p:nvPr/>
        </p:nvSpPr>
        <p:spPr>
          <a:xfrm>
            <a:off x="685802" y="26146439"/>
            <a:ext cx="2597924" cy="4154984"/>
          </a:xfrm>
          <a:prstGeom prst="rect">
            <a:avLst/>
          </a:prstGeom>
          <a:noFill/>
        </p:spPr>
        <p:txBody>
          <a:bodyPr wrap="square" rtlCol="0">
            <a:spAutoFit/>
          </a:bodyPr>
          <a:lstStyle/>
          <a:p>
            <a:r>
              <a:rPr lang="en-CA" sz="1200" dirty="0"/>
              <a:t>Notes: </a:t>
            </a:r>
          </a:p>
          <a:p>
            <a:pPr marL="228609" indent="-228609">
              <a:buFontTx/>
              <a:buAutoNum type="arabicPeriod"/>
            </a:pPr>
            <a:r>
              <a:rPr lang="en-CA" sz="1200" dirty="0"/>
              <a:t>Only selected prerequisites have been shown for important connections. Check the calendar for a full listing.</a:t>
            </a:r>
          </a:p>
          <a:p>
            <a:pPr marL="228609" indent="-228609">
              <a:buAutoNum type="arabicPeriod"/>
            </a:pPr>
            <a:r>
              <a:rPr lang="en-CA" sz="1200" dirty="0" smtClean="0"/>
              <a:t>6 </a:t>
            </a:r>
            <a:r>
              <a:rPr lang="en-CA" sz="1200" dirty="0"/>
              <a:t>credits of English are required from a variety of English courses.  ENGL 112 and 153 are recommended</a:t>
            </a:r>
            <a:r>
              <a:rPr lang="en-CA" sz="1200" dirty="0" smtClean="0"/>
              <a:t>.</a:t>
            </a:r>
          </a:p>
          <a:p>
            <a:pPr marL="228609" indent="-228609">
              <a:buAutoNum type="arabicPeriod"/>
            </a:pPr>
            <a:r>
              <a:rPr lang="en-CA" sz="1200" dirty="0" smtClean="0"/>
              <a:t>The pairing of chemistry and physics courses is as shown in the calendar.  Other pairings of first and second term courses may be possible.</a:t>
            </a:r>
          </a:p>
          <a:p>
            <a:pPr marL="228609" indent="-228609">
              <a:buAutoNum type="arabicPeriod"/>
            </a:pPr>
            <a:r>
              <a:rPr lang="en-CA" sz="1200" dirty="0" smtClean="0"/>
              <a:t>If you do feel not up to taking 5 science courses in first year, then Physics is the science that should be delayed until second year.  Chemistry, EESC and Biology courses should not be delayed, otherwise delays in degree progression will occur.</a:t>
            </a:r>
            <a:endParaRPr lang="en-CA" sz="1200" dirty="0"/>
          </a:p>
        </p:txBody>
      </p:sp>
      <p:sp>
        <p:nvSpPr>
          <p:cNvPr id="110" name="Rectangle 109"/>
          <p:cNvSpPr/>
          <p:nvPr/>
        </p:nvSpPr>
        <p:spPr>
          <a:xfrm>
            <a:off x="735240" y="720576"/>
            <a:ext cx="18794316" cy="194846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4400" b="1" u="sng" dirty="0">
                <a:solidFill>
                  <a:schemeClr val="tx1"/>
                </a:solidFill>
              </a:rPr>
              <a:t>Freshwater </a:t>
            </a:r>
            <a:r>
              <a:rPr lang="en-CA" sz="4400" b="1" u="sng" dirty="0" smtClean="0">
                <a:solidFill>
                  <a:schemeClr val="tx1"/>
                </a:solidFill>
              </a:rPr>
              <a:t>Science:</a:t>
            </a:r>
          </a:p>
          <a:p>
            <a:pPr algn="ctr"/>
            <a:r>
              <a:rPr lang="en-CA" sz="3600" dirty="0" smtClean="0">
                <a:solidFill>
                  <a:schemeClr val="tx1"/>
                </a:solidFill>
              </a:rPr>
              <a:t>Course </a:t>
            </a:r>
            <a:r>
              <a:rPr lang="en-CA" sz="3600" dirty="0">
                <a:solidFill>
                  <a:schemeClr val="tx1"/>
                </a:solidFill>
              </a:rPr>
              <a:t>progression </a:t>
            </a:r>
            <a:r>
              <a:rPr lang="en-CA" sz="3600" dirty="0" smtClean="0">
                <a:solidFill>
                  <a:schemeClr val="tx1"/>
                </a:solidFill>
              </a:rPr>
              <a:t>suggestions for the Freshwater Science Major for UBC Graduation.</a:t>
            </a:r>
          </a:p>
        </p:txBody>
      </p:sp>
      <p:sp>
        <p:nvSpPr>
          <p:cNvPr id="111" name="Rectangle 110"/>
          <p:cNvSpPr/>
          <p:nvPr/>
        </p:nvSpPr>
        <p:spPr>
          <a:xfrm>
            <a:off x="15492985" y="4968202"/>
            <a:ext cx="3856776" cy="853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600" dirty="0">
                <a:solidFill>
                  <a:schemeClr val="tx1"/>
                </a:solidFill>
              </a:rPr>
              <a:t>Red Lines: Significant prerequisite chains</a:t>
            </a:r>
          </a:p>
          <a:p>
            <a:r>
              <a:rPr lang="en-CA" sz="1600" dirty="0">
                <a:solidFill>
                  <a:schemeClr val="tx1"/>
                </a:solidFill>
              </a:rPr>
              <a:t>Dashed Blue lines: Recommended </a:t>
            </a:r>
            <a:r>
              <a:rPr lang="en-CA" sz="1600" dirty="0" smtClean="0">
                <a:solidFill>
                  <a:schemeClr val="tx1"/>
                </a:solidFill>
              </a:rPr>
              <a:t>associations</a:t>
            </a:r>
          </a:p>
          <a:p>
            <a:r>
              <a:rPr lang="en-CA" sz="1600" dirty="0" smtClean="0">
                <a:solidFill>
                  <a:schemeClr val="tx1"/>
                </a:solidFill>
              </a:rPr>
              <a:t>Not all prerequisites shown with arrows</a:t>
            </a:r>
            <a:endParaRPr lang="en-CA" sz="1600" dirty="0">
              <a:solidFill>
                <a:schemeClr val="tx1"/>
              </a:solidFill>
            </a:endParaRPr>
          </a:p>
        </p:txBody>
      </p:sp>
      <p:sp>
        <p:nvSpPr>
          <p:cNvPr id="112" name="Freeform 111"/>
          <p:cNvSpPr/>
          <p:nvPr/>
        </p:nvSpPr>
        <p:spPr>
          <a:xfrm>
            <a:off x="14669778" y="5158126"/>
            <a:ext cx="796753" cy="0"/>
          </a:xfrm>
          <a:custGeom>
            <a:avLst/>
            <a:gdLst>
              <a:gd name="connsiteX0" fmla="*/ 0 w 944880"/>
              <a:gd name="connsiteY0" fmla="*/ 0 h 0"/>
              <a:gd name="connsiteX1" fmla="*/ 944880 w 944880"/>
              <a:gd name="connsiteY1" fmla="*/ 0 h 0"/>
            </a:gdLst>
            <a:ahLst/>
            <a:cxnLst>
              <a:cxn ang="0">
                <a:pos x="connsiteX0" y="connsiteY0"/>
              </a:cxn>
              <a:cxn ang="0">
                <a:pos x="connsiteX1" y="connsiteY1"/>
              </a:cxn>
            </a:cxnLst>
            <a:rect l="l" t="t" r="r" b="b"/>
            <a:pathLst>
              <a:path w="944880">
                <a:moveTo>
                  <a:pt x="0" y="0"/>
                </a:moveTo>
                <a:lnTo>
                  <a:pt x="944880" y="0"/>
                </a:lnTo>
              </a:path>
            </a:pathLst>
          </a:cu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13" name="Freeform 112"/>
          <p:cNvSpPr/>
          <p:nvPr/>
        </p:nvSpPr>
        <p:spPr>
          <a:xfrm>
            <a:off x="14709825" y="5432245"/>
            <a:ext cx="796753" cy="0"/>
          </a:xfrm>
          <a:custGeom>
            <a:avLst/>
            <a:gdLst>
              <a:gd name="connsiteX0" fmla="*/ 0 w 944880"/>
              <a:gd name="connsiteY0" fmla="*/ 0 h 0"/>
              <a:gd name="connsiteX1" fmla="*/ 944880 w 944880"/>
              <a:gd name="connsiteY1" fmla="*/ 0 h 0"/>
            </a:gdLst>
            <a:ahLst/>
            <a:cxnLst>
              <a:cxn ang="0">
                <a:pos x="connsiteX0" y="connsiteY0"/>
              </a:cxn>
              <a:cxn ang="0">
                <a:pos x="connsiteX1" y="connsiteY1"/>
              </a:cxn>
            </a:cxnLst>
            <a:rect l="l" t="t" r="r" b="b"/>
            <a:pathLst>
              <a:path w="944880">
                <a:moveTo>
                  <a:pt x="0" y="0"/>
                </a:moveTo>
                <a:lnTo>
                  <a:pt x="944880" y="0"/>
                </a:lnTo>
              </a:path>
            </a:pathLst>
          </a:custGeom>
          <a:noFill/>
          <a:ln w="508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14" name="Rectangle 113"/>
          <p:cNvSpPr/>
          <p:nvPr/>
        </p:nvSpPr>
        <p:spPr>
          <a:xfrm>
            <a:off x="14281127" y="4779511"/>
            <a:ext cx="5068634" cy="11588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15" name="Rectangle 114"/>
          <p:cNvSpPr/>
          <p:nvPr/>
        </p:nvSpPr>
        <p:spPr>
          <a:xfrm>
            <a:off x="836694" y="4789334"/>
            <a:ext cx="3878362" cy="1140863"/>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i="1" dirty="0">
                <a:solidFill>
                  <a:schemeClr val="tx1"/>
                </a:solidFill>
              </a:rPr>
              <a:t>Program </a:t>
            </a:r>
            <a:r>
              <a:rPr lang="en-CA" sz="1800" i="1" dirty="0" smtClean="0">
                <a:solidFill>
                  <a:schemeClr val="tx1"/>
                </a:solidFill>
              </a:rPr>
              <a:t>Requirements</a:t>
            </a:r>
            <a:r>
              <a:rPr lang="en-CA" sz="1800" dirty="0" smtClean="0">
                <a:solidFill>
                  <a:schemeClr val="tx1"/>
                </a:solidFill>
              </a:rPr>
              <a:t>. </a:t>
            </a:r>
            <a:endParaRPr lang="en-CA" sz="1800" i="1" dirty="0">
              <a:solidFill>
                <a:schemeClr val="tx1"/>
              </a:solidFill>
            </a:endParaRPr>
          </a:p>
        </p:txBody>
      </p:sp>
      <p:sp>
        <p:nvSpPr>
          <p:cNvPr id="116" name="Rectangle 115"/>
          <p:cNvSpPr/>
          <p:nvPr/>
        </p:nvSpPr>
        <p:spPr>
          <a:xfrm>
            <a:off x="9755857" y="4819401"/>
            <a:ext cx="4374911" cy="111894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dirty="0">
                <a:solidFill>
                  <a:schemeClr val="tx1"/>
                </a:solidFill>
              </a:rPr>
              <a:t>Electives</a:t>
            </a:r>
          </a:p>
        </p:txBody>
      </p:sp>
      <p:sp>
        <p:nvSpPr>
          <p:cNvPr id="117" name="Rectangle 116"/>
          <p:cNvSpPr/>
          <p:nvPr/>
        </p:nvSpPr>
        <p:spPr>
          <a:xfrm>
            <a:off x="4886487" y="4828042"/>
            <a:ext cx="4697939" cy="109397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i="1" dirty="0" smtClean="0">
                <a:solidFill>
                  <a:schemeClr val="tx1"/>
                </a:solidFill>
              </a:rPr>
              <a:t>Suggested Program </a:t>
            </a:r>
            <a:r>
              <a:rPr lang="en-CA" sz="1800" i="1" dirty="0">
                <a:solidFill>
                  <a:schemeClr val="tx1"/>
                </a:solidFill>
              </a:rPr>
              <a:t>choices</a:t>
            </a:r>
          </a:p>
        </p:txBody>
      </p:sp>
      <p:sp>
        <p:nvSpPr>
          <p:cNvPr id="118" name="Rectangle 117"/>
          <p:cNvSpPr/>
          <p:nvPr/>
        </p:nvSpPr>
        <p:spPr>
          <a:xfrm>
            <a:off x="735240" y="2872667"/>
            <a:ext cx="18782975" cy="10950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dirty="0" smtClean="0">
                <a:solidFill>
                  <a:schemeClr val="tx1"/>
                </a:solidFill>
              </a:rPr>
              <a:t>The information in the graphic has been put together to provide some guidance to Freshwater Science Majors as to progression through the program which will meet requirements of the major.  Please read the notes under each year for further information.  This advice is not comprehensive and there are many possible options.  Direct discussions with Academic Advising and the Freshwater Science Program Advisor are always the best option for determining your final program choices.   Some students choose to investigate the possibility for registration as a professional geoscientist, </a:t>
            </a:r>
            <a:r>
              <a:rPr lang="en-CA" sz="1600" dirty="0" err="1" smtClean="0">
                <a:solidFill>
                  <a:schemeClr val="tx1"/>
                </a:solidFill>
              </a:rPr>
              <a:t>agrologist</a:t>
            </a:r>
            <a:r>
              <a:rPr lang="en-CA" sz="1600" dirty="0" smtClean="0">
                <a:solidFill>
                  <a:schemeClr val="tx1"/>
                </a:solidFill>
              </a:rPr>
              <a:t>, biologist or environmental professional after graduation.  These options may require careful planning, and may involve taking additional courses.  Advice as early as possible from the Freshwater Science program advisor is recommended.  </a:t>
            </a:r>
          </a:p>
        </p:txBody>
      </p:sp>
      <p:sp>
        <p:nvSpPr>
          <p:cNvPr id="119" name="TextBox 118"/>
          <p:cNvSpPr txBox="1"/>
          <p:nvPr/>
        </p:nvSpPr>
        <p:spPr>
          <a:xfrm>
            <a:off x="9149310" y="4067141"/>
            <a:ext cx="1388329" cy="584775"/>
          </a:xfrm>
          <a:prstGeom prst="rect">
            <a:avLst/>
          </a:prstGeom>
          <a:noFill/>
        </p:spPr>
        <p:txBody>
          <a:bodyPr wrap="none" rtlCol="0">
            <a:spAutoFit/>
          </a:bodyPr>
          <a:lstStyle/>
          <a:p>
            <a:r>
              <a:rPr lang="en-CA" sz="3200" dirty="0" smtClean="0"/>
              <a:t>Legend</a:t>
            </a:r>
            <a:endParaRPr lang="en-CA" sz="3200" dirty="0"/>
          </a:p>
        </p:txBody>
      </p:sp>
      <p:sp>
        <p:nvSpPr>
          <p:cNvPr id="120" name="Rectangle 119"/>
          <p:cNvSpPr/>
          <p:nvPr/>
        </p:nvSpPr>
        <p:spPr>
          <a:xfrm>
            <a:off x="685801" y="4170423"/>
            <a:ext cx="18805656" cy="18650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2" name="Rectangle 121"/>
          <p:cNvSpPr/>
          <p:nvPr/>
        </p:nvSpPr>
        <p:spPr>
          <a:xfrm>
            <a:off x="695961" y="6314178"/>
            <a:ext cx="2690628"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1</a:t>
            </a:r>
            <a:r>
              <a:rPr lang="en-CA" sz="2000" b="1" baseline="30000" dirty="0">
                <a:solidFill>
                  <a:schemeClr val="bg1"/>
                </a:solidFill>
              </a:rPr>
              <a:t>st</a:t>
            </a:r>
            <a:r>
              <a:rPr lang="en-CA" sz="2000" b="1" dirty="0">
                <a:solidFill>
                  <a:schemeClr val="bg1"/>
                </a:solidFill>
              </a:rPr>
              <a:t> Year</a:t>
            </a:r>
          </a:p>
        </p:txBody>
      </p:sp>
      <p:sp>
        <p:nvSpPr>
          <p:cNvPr id="123" name="Rectangle 122"/>
          <p:cNvSpPr/>
          <p:nvPr/>
        </p:nvSpPr>
        <p:spPr>
          <a:xfrm>
            <a:off x="3940865" y="6314178"/>
            <a:ext cx="3547808"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2</a:t>
            </a:r>
            <a:r>
              <a:rPr lang="en-CA" sz="2000" b="1" baseline="30000" dirty="0">
                <a:solidFill>
                  <a:schemeClr val="bg1"/>
                </a:solidFill>
              </a:rPr>
              <a:t>nd</a:t>
            </a:r>
            <a:r>
              <a:rPr lang="en-CA" sz="2000" b="1" dirty="0">
                <a:solidFill>
                  <a:schemeClr val="bg1"/>
                </a:solidFill>
              </a:rPr>
              <a:t> year</a:t>
            </a:r>
          </a:p>
        </p:txBody>
      </p:sp>
      <p:sp>
        <p:nvSpPr>
          <p:cNvPr id="126" name="Rectangle 125"/>
          <p:cNvSpPr/>
          <p:nvPr/>
        </p:nvSpPr>
        <p:spPr>
          <a:xfrm>
            <a:off x="8352655" y="6252104"/>
            <a:ext cx="3341964"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3</a:t>
            </a:r>
            <a:r>
              <a:rPr lang="en-CA" sz="2000" b="1" baseline="30000" dirty="0">
                <a:solidFill>
                  <a:schemeClr val="bg1"/>
                </a:solidFill>
              </a:rPr>
              <a:t>nd</a:t>
            </a:r>
            <a:r>
              <a:rPr lang="en-CA" sz="2000" b="1" dirty="0">
                <a:solidFill>
                  <a:schemeClr val="bg1"/>
                </a:solidFill>
              </a:rPr>
              <a:t> year</a:t>
            </a:r>
          </a:p>
        </p:txBody>
      </p:sp>
      <p:sp>
        <p:nvSpPr>
          <p:cNvPr id="127" name="Rectangle 126"/>
          <p:cNvSpPr/>
          <p:nvPr/>
        </p:nvSpPr>
        <p:spPr>
          <a:xfrm>
            <a:off x="13852037" y="6269585"/>
            <a:ext cx="3833371"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4th year</a:t>
            </a:r>
          </a:p>
        </p:txBody>
      </p:sp>
      <p:sp>
        <p:nvSpPr>
          <p:cNvPr id="128" name="Rectangle 127"/>
          <p:cNvSpPr/>
          <p:nvPr/>
        </p:nvSpPr>
        <p:spPr>
          <a:xfrm>
            <a:off x="12077381" y="6260696"/>
            <a:ext cx="1437368"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May after </a:t>
            </a:r>
            <a:r>
              <a:rPr lang="en-CA" sz="2000" b="1" dirty="0" smtClean="0">
                <a:solidFill>
                  <a:schemeClr val="bg1"/>
                </a:solidFill>
              </a:rPr>
              <a:t>3</a:t>
            </a:r>
            <a:r>
              <a:rPr lang="en-CA" sz="2000" b="1" baseline="30000" dirty="0" smtClean="0">
                <a:solidFill>
                  <a:schemeClr val="bg1"/>
                </a:solidFill>
              </a:rPr>
              <a:t>rd</a:t>
            </a:r>
            <a:r>
              <a:rPr lang="en-CA" sz="2000" b="1" dirty="0" smtClean="0">
                <a:solidFill>
                  <a:schemeClr val="bg1"/>
                </a:solidFill>
              </a:rPr>
              <a:t> </a:t>
            </a:r>
            <a:r>
              <a:rPr lang="en-CA" sz="2000" b="1" dirty="0">
                <a:solidFill>
                  <a:schemeClr val="bg1"/>
                </a:solidFill>
              </a:rPr>
              <a:t>year</a:t>
            </a:r>
          </a:p>
        </p:txBody>
      </p:sp>
      <p:sp>
        <p:nvSpPr>
          <p:cNvPr id="131" name="Rectangle 130"/>
          <p:cNvSpPr/>
          <p:nvPr/>
        </p:nvSpPr>
        <p:spPr>
          <a:xfrm>
            <a:off x="4108319" y="13456912"/>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EESC 222 Geomorphology (Two of EESC 101, 111, 121)</a:t>
            </a:r>
            <a:endParaRPr lang="en-CA" sz="1200" dirty="0">
              <a:solidFill>
                <a:schemeClr val="tx1"/>
              </a:solidFill>
            </a:endParaRPr>
          </a:p>
        </p:txBody>
      </p:sp>
      <p:sp>
        <p:nvSpPr>
          <p:cNvPr id="132" name="Rectangle 131"/>
          <p:cNvSpPr/>
          <p:nvPr/>
        </p:nvSpPr>
        <p:spPr>
          <a:xfrm>
            <a:off x="5812679" y="17553419"/>
            <a:ext cx="1512000" cy="1144106"/>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EESC 212 Atmospheric </a:t>
            </a:r>
            <a:r>
              <a:rPr lang="en-CA" sz="1200" dirty="0" smtClean="0">
                <a:solidFill>
                  <a:schemeClr val="tx1"/>
                </a:solidFill>
              </a:rPr>
              <a:t>Environments</a:t>
            </a:r>
          </a:p>
          <a:p>
            <a:pPr algn="ctr"/>
            <a:r>
              <a:rPr lang="en-CA" sz="1200" dirty="0" smtClean="0">
                <a:solidFill>
                  <a:schemeClr val="tx1"/>
                </a:solidFill>
              </a:rPr>
              <a:t> (Two of EESC 101,  111</a:t>
            </a:r>
            <a:r>
              <a:rPr lang="en-CA" sz="1200" dirty="0">
                <a:solidFill>
                  <a:schemeClr val="tx1"/>
                </a:solidFill>
              </a:rPr>
              <a:t>, 121</a:t>
            </a:r>
            <a:r>
              <a:rPr lang="en-CA" sz="1200" dirty="0" smtClean="0">
                <a:solidFill>
                  <a:schemeClr val="tx1"/>
                </a:solidFill>
              </a:rPr>
              <a:t>)</a:t>
            </a:r>
          </a:p>
          <a:p>
            <a:pPr algn="ctr"/>
            <a:endParaRPr lang="en-CA" sz="1200" dirty="0" smtClean="0">
              <a:solidFill>
                <a:schemeClr val="tx1"/>
              </a:solidFill>
            </a:endParaRPr>
          </a:p>
        </p:txBody>
      </p:sp>
      <p:sp>
        <p:nvSpPr>
          <p:cNvPr id="133" name="Rectangle 132"/>
          <p:cNvSpPr/>
          <p:nvPr/>
        </p:nvSpPr>
        <p:spPr>
          <a:xfrm>
            <a:off x="4098665" y="11520153"/>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CHEM 211 Analytical Chemistry</a:t>
            </a:r>
          </a:p>
          <a:p>
            <a:pPr algn="ctr"/>
            <a:endParaRPr lang="en-CA" sz="1200" i="1" dirty="0">
              <a:solidFill>
                <a:schemeClr val="tx1"/>
              </a:solidFill>
            </a:endParaRPr>
          </a:p>
        </p:txBody>
      </p:sp>
      <p:sp>
        <p:nvSpPr>
          <p:cNvPr id="136" name="Rectangle 135"/>
          <p:cNvSpPr/>
          <p:nvPr/>
        </p:nvSpPr>
        <p:spPr>
          <a:xfrm>
            <a:off x="8364634" y="10702111"/>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BIOL 375 Flora and Fauna of Inland Waters</a:t>
            </a:r>
          </a:p>
        </p:txBody>
      </p:sp>
      <p:sp>
        <p:nvSpPr>
          <p:cNvPr id="137" name="Rectangle 136"/>
          <p:cNvSpPr/>
          <p:nvPr/>
        </p:nvSpPr>
        <p:spPr>
          <a:xfrm>
            <a:off x="8408143" y="13094545"/>
            <a:ext cx="3240000" cy="1802367"/>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dirty="0" smtClean="0">
                <a:solidFill>
                  <a:schemeClr val="tx1"/>
                </a:solidFill>
              </a:rPr>
              <a:t>One of:</a:t>
            </a:r>
          </a:p>
          <a:p>
            <a:r>
              <a:rPr lang="en-CA" sz="1200" dirty="0">
                <a:solidFill>
                  <a:schemeClr val="tx1"/>
                </a:solidFill>
              </a:rPr>
              <a:t>EESC 313 Management of Forested Watersheds</a:t>
            </a:r>
          </a:p>
          <a:p>
            <a:r>
              <a:rPr lang="en-CA" sz="1200" dirty="0" smtClean="0">
                <a:solidFill>
                  <a:schemeClr val="tx1"/>
                </a:solidFill>
              </a:rPr>
              <a:t>EESC </a:t>
            </a:r>
            <a:r>
              <a:rPr lang="en-CA" sz="1200" dirty="0" smtClean="0">
                <a:solidFill>
                  <a:schemeClr val="tx1"/>
                </a:solidFill>
              </a:rPr>
              <a:t>314 Environmental </a:t>
            </a:r>
            <a:r>
              <a:rPr lang="en-CA" sz="1200" dirty="0">
                <a:solidFill>
                  <a:schemeClr val="tx1"/>
                </a:solidFill>
              </a:rPr>
              <a:t>Impact Assessment: </a:t>
            </a:r>
            <a:r>
              <a:rPr lang="en-US" sz="1200" dirty="0" smtClean="0">
                <a:solidFill>
                  <a:schemeClr val="tx1"/>
                </a:solidFill>
              </a:rPr>
              <a:t>Process</a:t>
            </a:r>
            <a:r>
              <a:rPr lang="en-US" sz="1200" dirty="0">
                <a:solidFill>
                  <a:schemeClr val="tx1"/>
                </a:solidFill>
              </a:rPr>
              <a:t>, Regulation and </a:t>
            </a:r>
            <a:r>
              <a:rPr lang="en-US" sz="1200" dirty="0" smtClean="0">
                <a:solidFill>
                  <a:schemeClr val="tx1"/>
                </a:solidFill>
              </a:rPr>
              <a:t>Administration</a:t>
            </a:r>
          </a:p>
          <a:p>
            <a:r>
              <a:rPr lang="en-CA" sz="1200" dirty="0" smtClean="0">
                <a:solidFill>
                  <a:schemeClr val="tx1"/>
                </a:solidFill>
              </a:rPr>
              <a:t>Term 2:</a:t>
            </a:r>
          </a:p>
          <a:p>
            <a:r>
              <a:rPr lang="en-CA" sz="1200" dirty="0" smtClean="0">
                <a:solidFill>
                  <a:schemeClr val="tx1"/>
                </a:solidFill>
              </a:rPr>
              <a:t>EESC </a:t>
            </a:r>
            <a:r>
              <a:rPr lang="en-CA" sz="1200" dirty="0">
                <a:solidFill>
                  <a:schemeClr val="tx1"/>
                </a:solidFill>
              </a:rPr>
              <a:t>315 Environmental Impact Assessment: Techniques and </a:t>
            </a:r>
            <a:r>
              <a:rPr lang="en-CA" sz="1200" dirty="0" smtClean="0">
                <a:solidFill>
                  <a:schemeClr val="tx1"/>
                </a:solidFill>
              </a:rPr>
              <a:t>practice</a:t>
            </a:r>
          </a:p>
          <a:p>
            <a:r>
              <a:rPr lang="en-CA" sz="1200" dirty="0" smtClean="0">
                <a:solidFill>
                  <a:schemeClr val="tx1"/>
                </a:solidFill>
              </a:rPr>
              <a:t>GEOG 310 Environment and Resources</a:t>
            </a:r>
          </a:p>
          <a:p>
            <a:r>
              <a:rPr lang="en-CA" sz="1200" dirty="0" smtClean="0">
                <a:solidFill>
                  <a:schemeClr val="tx1"/>
                </a:solidFill>
              </a:rPr>
              <a:t>Term to fit choices above</a:t>
            </a:r>
            <a:endParaRPr lang="en-CA" sz="1200" dirty="0">
              <a:solidFill>
                <a:schemeClr val="tx1"/>
              </a:solidFill>
            </a:endParaRPr>
          </a:p>
        </p:txBody>
      </p:sp>
      <p:sp>
        <p:nvSpPr>
          <p:cNvPr id="138" name="Rectangle 137"/>
          <p:cNvSpPr/>
          <p:nvPr/>
        </p:nvSpPr>
        <p:spPr>
          <a:xfrm>
            <a:off x="16068138" y="7915931"/>
            <a:ext cx="1512000" cy="1575468"/>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EESC 402 Freshwater Resources</a:t>
            </a:r>
          </a:p>
          <a:p>
            <a:pPr algn="ctr"/>
            <a:endParaRPr lang="en-CA" sz="1200" i="1" dirty="0">
              <a:solidFill>
                <a:schemeClr val="tx1"/>
              </a:solidFill>
            </a:endParaRPr>
          </a:p>
        </p:txBody>
      </p:sp>
      <p:sp>
        <p:nvSpPr>
          <p:cNvPr id="139" name="Rectangle 138"/>
          <p:cNvSpPr/>
          <p:nvPr/>
        </p:nvSpPr>
        <p:spPr>
          <a:xfrm>
            <a:off x="14175467" y="9578610"/>
            <a:ext cx="3402404" cy="1645437"/>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dirty="0" smtClean="0">
                <a:solidFill>
                  <a:schemeClr val="tx1"/>
                </a:solidFill>
              </a:rPr>
              <a:t>One of </a:t>
            </a:r>
          </a:p>
          <a:p>
            <a:r>
              <a:rPr lang="en-CA" sz="1200" i="1" dirty="0" smtClean="0">
                <a:solidFill>
                  <a:schemeClr val="tx1"/>
                </a:solidFill>
              </a:rPr>
              <a:t>Term 1: </a:t>
            </a:r>
          </a:p>
          <a:p>
            <a:r>
              <a:rPr lang="en-CA" sz="1200" i="1" dirty="0" smtClean="0">
                <a:solidFill>
                  <a:schemeClr val="tx1"/>
                </a:solidFill>
              </a:rPr>
              <a:t>EESC 342 Hydrogeology</a:t>
            </a:r>
          </a:p>
          <a:p>
            <a:r>
              <a:rPr lang="en-CA" sz="1200" i="1" dirty="0" smtClean="0">
                <a:solidFill>
                  <a:schemeClr val="tx1"/>
                </a:solidFill>
              </a:rPr>
              <a:t>Term 2:</a:t>
            </a:r>
          </a:p>
          <a:p>
            <a:r>
              <a:rPr lang="en-CA" sz="1200" i="1" dirty="0">
                <a:solidFill>
                  <a:schemeClr val="tx1"/>
                </a:solidFill>
              </a:rPr>
              <a:t>EESC </a:t>
            </a:r>
            <a:r>
              <a:rPr lang="en-CA" sz="1200" i="1" dirty="0" smtClean="0">
                <a:solidFill>
                  <a:schemeClr val="tx1"/>
                </a:solidFill>
              </a:rPr>
              <a:t>413 Analytical </a:t>
            </a:r>
            <a:r>
              <a:rPr lang="en-CA" sz="1200" i="1" dirty="0">
                <a:solidFill>
                  <a:schemeClr val="tx1"/>
                </a:solidFill>
              </a:rPr>
              <a:t>Methods in </a:t>
            </a:r>
            <a:r>
              <a:rPr lang="en-CA" sz="1200" i="1" dirty="0" smtClean="0">
                <a:solidFill>
                  <a:schemeClr val="tx1"/>
                </a:solidFill>
              </a:rPr>
              <a:t>Hydrology</a:t>
            </a:r>
          </a:p>
          <a:p>
            <a:r>
              <a:rPr lang="en-CA" sz="1200" i="1" dirty="0" smtClean="0">
                <a:solidFill>
                  <a:schemeClr val="tx1"/>
                </a:solidFill>
              </a:rPr>
              <a:t>May:</a:t>
            </a:r>
          </a:p>
          <a:p>
            <a:r>
              <a:rPr lang="en-CA" sz="1200" i="1" dirty="0" smtClean="0">
                <a:solidFill>
                  <a:schemeClr val="tx1"/>
                </a:solidFill>
              </a:rPr>
              <a:t>EESC 435 Fluvial Field Techniques</a:t>
            </a:r>
          </a:p>
          <a:p>
            <a:endParaRPr lang="en-CA" sz="1200" i="1" dirty="0">
              <a:solidFill>
                <a:schemeClr val="tx1"/>
              </a:solidFill>
            </a:endParaRPr>
          </a:p>
          <a:p>
            <a:r>
              <a:rPr lang="en-CA" sz="1200" i="1" dirty="0">
                <a:solidFill>
                  <a:schemeClr val="tx1"/>
                </a:solidFill>
              </a:rPr>
              <a:t>Term </a:t>
            </a:r>
            <a:r>
              <a:rPr lang="en-CA" sz="1200" i="1" dirty="0" smtClean="0">
                <a:solidFill>
                  <a:schemeClr val="tx1"/>
                </a:solidFill>
              </a:rPr>
              <a:t>Variable: EESC 305 Land-use hydrology</a:t>
            </a:r>
            <a:endParaRPr lang="en-CA" sz="1200" i="1" dirty="0">
              <a:solidFill>
                <a:schemeClr val="tx1"/>
              </a:solidFill>
            </a:endParaRPr>
          </a:p>
        </p:txBody>
      </p:sp>
      <p:sp>
        <p:nvSpPr>
          <p:cNvPr id="140" name="Rectangle 139"/>
          <p:cNvSpPr/>
          <p:nvPr/>
        </p:nvSpPr>
        <p:spPr>
          <a:xfrm>
            <a:off x="8402514" y="15067605"/>
            <a:ext cx="3240000" cy="1875426"/>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dirty="0" smtClean="0">
                <a:solidFill>
                  <a:schemeClr val="tx1"/>
                </a:solidFill>
              </a:rPr>
              <a:t>Geochemistry Requirement:</a:t>
            </a:r>
          </a:p>
          <a:p>
            <a:r>
              <a:rPr lang="en-CA" sz="1200" dirty="0" smtClean="0">
                <a:solidFill>
                  <a:schemeClr val="tx1"/>
                </a:solidFill>
              </a:rPr>
              <a:t>Two of:</a:t>
            </a:r>
          </a:p>
          <a:p>
            <a:r>
              <a:rPr lang="en-CA" sz="1200" dirty="0" smtClean="0">
                <a:solidFill>
                  <a:schemeClr val="tx1"/>
                </a:solidFill>
              </a:rPr>
              <a:t>Term 1: </a:t>
            </a:r>
          </a:p>
          <a:p>
            <a:r>
              <a:rPr lang="en-CA" sz="1200" dirty="0" smtClean="0">
                <a:solidFill>
                  <a:schemeClr val="tx1"/>
                </a:solidFill>
              </a:rPr>
              <a:t>EESC 323 Geochemistry</a:t>
            </a:r>
          </a:p>
          <a:p>
            <a:r>
              <a:rPr lang="en-CA" sz="1200" dirty="0" smtClean="0">
                <a:solidFill>
                  <a:schemeClr val="tx1"/>
                </a:solidFill>
              </a:rPr>
              <a:t>EESC 423 Tracers of Natural Processes</a:t>
            </a:r>
          </a:p>
          <a:p>
            <a:r>
              <a:rPr lang="en-CA" sz="1200" dirty="0" smtClean="0">
                <a:solidFill>
                  <a:schemeClr val="tx1"/>
                </a:solidFill>
              </a:rPr>
              <a:t>Term 2:</a:t>
            </a:r>
          </a:p>
          <a:p>
            <a:r>
              <a:rPr lang="en-CA" sz="1200" dirty="0" smtClean="0">
                <a:solidFill>
                  <a:schemeClr val="tx1"/>
                </a:solidFill>
              </a:rPr>
              <a:t>EESC 309 Global Biogeochemistry</a:t>
            </a:r>
          </a:p>
          <a:p>
            <a:r>
              <a:rPr lang="en-CA" sz="1200" dirty="0" smtClean="0">
                <a:solidFill>
                  <a:schemeClr val="tx1"/>
                </a:solidFill>
              </a:rPr>
              <a:t>See Note</a:t>
            </a:r>
          </a:p>
          <a:p>
            <a:r>
              <a:rPr lang="en-CA" sz="1200" dirty="0" smtClean="0">
                <a:solidFill>
                  <a:schemeClr val="tx1"/>
                </a:solidFill>
              </a:rPr>
              <a:t>Term to fit choices above</a:t>
            </a:r>
            <a:endParaRPr lang="en-CA" sz="1200" dirty="0">
              <a:solidFill>
                <a:schemeClr val="tx1"/>
              </a:solidFill>
            </a:endParaRPr>
          </a:p>
        </p:txBody>
      </p:sp>
      <p:sp>
        <p:nvSpPr>
          <p:cNvPr id="141" name="Rectangle 140"/>
          <p:cNvSpPr/>
          <p:nvPr/>
        </p:nvSpPr>
        <p:spPr>
          <a:xfrm>
            <a:off x="8402514" y="18858694"/>
            <a:ext cx="3205286" cy="121838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6 credits:</a:t>
            </a:r>
          </a:p>
          <a:p>
            <a:pPr algn="ctr"/>
            <a:r>
              <a:rPr lang="en-CA" sz="1200" dirty="0">
                <a:solidFill>
                  <a:schemeClr val="tx1"/>
                </a:solidFill>
              </a:rPr>
              <a:t>Non Science Elective Requirement </a:t>
            </a:r>
            <a:r>
              <a:rPr lang="en-CA" sz="1200" dirty="0" smtClean="0">
                <a:solidFill>
                  <a:schemeClr val="tx1"/>
                </a:solidFill>
              </a:rPr>
              <a:t>#3 and #4</a:t>
            </a:r>
          </a:p>
          <a:p>
            <a:pPr algn="ctr"/>
            <a:r>
              <a:rPr lang="en-CA" sz="1200" dirty="0" smtClean="0">
                <a:solidFill>
                  <a:schemeClr val="tx1"/>
                </a:solidFill>
              </a:rPr>
              <a:t>Note: Term will depend on choices above and course </a:t>
            </a:r>
            <a:r>
              <a:rPr lang="en-CA" sz="1200" dirty="0" smtClean="0">
                <a:solidFill>
                  <a:schemeClr val="tx1"/>
                </a:solidFill>
              </a:rPr>
              <a:t>scheduling</a:t>
            </a:r>
            <a:r>
              <a:rPr lang="en-CA" sz="1200" dirty="0" smtClean="0">
                <a:solidFill>
                  <a:schemeClr val="tx1"/>
                </a:solidFill>
              </a:rPr>
              <a:t>.  Between Non-Science and General Electives, 6 credits must by u/l.</a:t>
            </a:r>
            <a:endParaRPr lang="en-CA" sz="1200" dirty="0" smtClean="0">
              <a:solidFill>
                <a:schemeClr val="tx1"/>
              </a:solidFill>
            </a:endParaRPr>
          </a:p>
          <a:p>
            <a:pPr algn="ctr"/>
            <a:endParaRPr lang="en-CA" sz="1200" dirty="0">
              <a:solidFill>
                <a:schemeClr val="tx1"/>
              </a:solidFill>
            </a:endParaRPr>
          </a:p>
        </p:txBody>
      </p:sp>
      <p:sp>
        <p:nvSpPr>
          <p:cNvPr id="153" name="Rectangle 152"/>
          <p:cNvSpPr/>
          <p:nvPr/>
        </p:nvSpPr>
        <p:spPr>
          <a:xfrm>
            <a:off x="14175467" y="7915931"/>
            <a:ext cx="1718868" cy="154939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Upper Level Science Elective #1</a:t>
            </a:r>
          </a:p>
          <a:p>
            <a:pPr algn="ctr"/>
            <a:r>
              <a:rPr lang="en-CA" sz="1200" dirty="0" smtClean="0">
                <a:solidFill>
                  <a:schemeClr val="tx1"/>
                </a:solidFill>
              </a:rPr>
              <a:t>Suggested:</a:t>
            </a:r>
          </a:p>
          <a:p>
            <a:pPr algn="ctr"/>
            <a:r>
              <a:rPr lang="en-CA" sz="1200" dirty="0" smtClean="0">
                <a:solidFill>
                  <a:schemeClr val="tx1"/>
                </a:solidFill>
              </a:rPr>
              <a:t>GISC 380 </a:t>
            </a:r>
          </a:p>
          <a:p>
            <a:pPr algn="ctr"/>
            <a:r>
              <a:rPr lang="en-CA" sz="1200" dirty="0" smtClean="0">
                <a:solidFill>
                  <a:schemeClr val="tx1"/>
                </a:solidFill>
              </a:rPr>
              <a:t>Fundamentals of Geographic Information Science </a:t>
            </a:r>
          </a:p>
        </p:txBody>
      </p:sp>
      <p:sp>
        <p:nvSpPr>
          <p:cNvPr id="160" name="Rectangle 159"/>
          <p:cNvSpPr/>
          <p:nvPr/>
        </p:nvSpPr>
        <p:spPr>
          <a:xfrm>
            <a:off x="8372697" y="8411400"/>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EESC 301 Limnology</a:t>
            </a:r>
          </a:p>
          <a:p>
            <a:pPr algn="ctr"/>
            <a:endParaRPr lang="en-CA" sz="1200" i="1" dirty="0">
              <a:solidFill>
                <a:schemeClr val="tx1"/>
              </a:solidFill>
            </a:endParaRPr>
          </a:p>
        </p:txBody>
      </p:sp>
      <p:sp>
        <p:nvSpPr>
          <p:cNvPr id="161" name="Rectangle 160"/>
          <p:cNvSpPr/>
          <p:nvPr/>
        </p:nvSpPr>
        <p:spPr>
          <a:xfrm>
            <a:off x="14176009" y="11451842"/>
            <a:ext cx="3375821" cy="18664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Upper Level                   Upper Level</a:t>
            </a:r>
          </a:p>
          <a:p>
            <a:pPr algn="ctr"/>
            <a:r>
              <a:rPr lang="en-CA" sz="1200" dirty="0">
                <a:solidFill>
                  <a:schemeClr val="tx1"/>
                </a:solidFill>
              </a:rPr>
              <a:t>Science  </a:t>
            </a:r>
            <a:r>
              <a:rPr lang="en-CA" sz="1200" dirty="0" smtClean="0">
                <a:solidFill>
                  <a:schemeClr val="tx1"/>
                </a:solidFill>
              </a:rPr>
              <a:t>Elective #2     Science Elective #3</a:t>
            </a:r>
            <a:endParaRPr lang="en-CA" sz="1200" dirty="0">
              <a:solidFill>
                <a:schemeClr val="tx1"/>
              </a:solidFill>
            </a:endParaRPr>
          </a:p>
          <a:p>
            <a:pPr algn="ctr"/>
            <a:r>
              <a:rPr lang="en-CA" sz="1200" dirty="0">
                <a:solidFill>
                  <a:schemeClr val="tx1"/>
                </a:solidFill>
              </a:rPr>
              <a:t>Term 1                          Term 2</a:t>
            </a:r>
          </a:p>
          <a:p>
            <a:pPr algn="ctr"/>
            <a:endParaRPr lang="en-CA" sz="1200" dirty="0">
              <a:solidFill>
                <a:schemeClr val="tx1"/>
              </a:solidFill>
            </a:endParaRPr>
          </a:p>
          <a:p>
            <a:pPr algn="ctr"/>
            <a:r>
              <a:rPr lang="en-CA" sz="1200" dirty="0">
                <a:solidFill>
                  <a:schemeClr val="tx1"/>
                </a:solidFill>
              </a:rPr>
              <a:t>OR:</a:t>
            </a:r>
          </a:p>
          <a:p>
            <a:pPr algn="ctr"/>
            <a:endParaRPr lang="en-CA" sz="1200" dirty="0">
              <a:solidFill>
                <a:schemeClr val="tx1"/>
              </a:solidFill>
            </a:endParaRPr>
          </a:p>
          <a:p>
            <a:pPr algn="ctr"/>
            <a:r>
              <a:rPr lang="en-CA" sz="1200" dirty="0">
                <a:solidFill>
                  <a:schemeClr val="tx1"/>
                </a:solidFill>
              </a:rPr>
              <a:t>EESC 449 Honours Thesis</a:t>
            </a:r>
          </a:p>
          <a:p>
            <a:pPr algn="ctr"/>
            <a:r>
              <a:rPr lang="en-CA" sz="1200" dirty="0">
                <a:solidFill>
                  <a:schemeClr val="tx1"/>
                </a:solidFill>
              </a:rPr>
              <a:t> (Term 1 and 2: 6 credits)</a:t>
            </a:r>
          </a:p>
        </p:txBody>
      </p:sp>
      <p:sp>
        <p:nvSpPr>
          <p:cNvPr id="162" name="Rectangle 161"/>
          <p:cNvSpPr/>
          <p:nvPr/>
        </p:nvSpPr>
        <p:spPr>
          <a:xfrm>
            <a:off x="11998005" y="9266310"/>
            <a:ext cx="1536937" cy="25143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Option</a:t>
            </a:r>
            <a:br>
              <a:rPr lang="en-CA" sz="1200" dirty="0" smtClean="0">
                <a:solidFill>
                  <a:schemeClr val="tx1"/>
                </a:solidFill>
              </a:rPr>
            </a:br>
            <a:r>
              <a:rPr lang="en-CA" sz="1200" dirty="0" smtClean="0">
                <a:solidFill>
                  <a:schemeClr val="tx1"/>
                </a:solidFill>
              </a:rPr>
              <a:t>EESC 435 Fluvial Field Techniques</a:t>
            </a:r>
          </a:p>
          <a:p>
            <a:pPr algn="ctr"/>
            <a:r>
              <a:rPr lang="en-CA" sz="1200" dirty="0" smtClean="0">
                <a:solidFill>
                  <a:schemeClr val="tx1"/>
                </a:solidFill>
              </a:rPr>
              <a:t>(205 or 222)</a:t>
            </a:r>
          </a:p>
          <a:p>
            <a:pPr algn="ctr"/>
            <a:endParaRPr lang="en-CA" sz="1200" dirty="0" smtClean="0">
              <a:solidFill>
                <a:schemeClr val="tx1"/>
              </a:solidFill>
            </a:endParaRPr>
          </a:p>
          <a:p>
            <a:pPr algn="ctr"/>
            <a:r>
              <a:rPr lang="en-CA" sz="1200" dirty="0" smtClean="0">
                <a:solidFill>
                  <a:schemeClr val="tx1"/>
                </a:solidFill>
              </a:rPr>
              <a:t>Note: Better taken after 4</a:t>
            </a:r>
            <a:r>
              <a:rPr lang="en-CA" sz="1200" baseline="30000" dirty="0" smtClean="0">
                <a:solidFill>
                  <a:schemeClr val="tx1"/>
                </a:solidFill>
              </a:rPr>
              <a:t>th</a:t>
            </a:r>
            <a:r>
              <a:rPr lang="en-CA" sz="1200" dirty="0" smtClean="0">
                <a:solidFill>
                  <a:schemeClr val="tx1"/>
                </a:solidFill>
              </a:rPr>
              <a:t> year</a:t>
            </a:r>
            <a:r>
              <a:rPr lang="en-CA" sz="1200" dirty="0">
                <a:solidFill>
                  <a:schemeClr val="tx1"/>
                </a:solidFill>
              </a:rPr>
              <a:t> </a:t>
            </a:r>
            <a:r>
              <a:rPr lang="en-CA" sz="1200" dirty="0" smtClean="0">
                <a:solidFill>
                  <a:schemeClr val="tx1"/>
                </a:solidFill>
              </a:rPr>
              <a:t>and with EESC 422. Advance notice to department required  if credits are required for graduation in that year.  </a:t>
            </a:r>
          </a:p>
        </p:txBody>
      </p:sp>
      <p:cxnSp>
        <p:nvCxnSpPr>
          <p:cNvPr id="166" name="Straight Arrow Connector 165"/>
          <p:cNvCxnSpPr>
            <a:stCxn id="151" idx="3"/>
            <a:endCxn id="136" idx="1"/>
          </p:cNvCxnSpPr>
          <p:nvPr/>
        </p:nvCxnSpPr>
        <p:spPr>
          <a:xfrm>
            <a:off x="7333079" y="9590884"/>
            <a:ext cx="1031555" cy="16512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p:cNvSpPr/>
          <p:nvPr/>
        </p:nvSpPr>
        <p:spPr>
          <a:xfrm>
            <a:off x="984636" y="11212395"/>
            <a:ext cx="2157424" cy="1136518"/>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Chemistry</a:t>
            </a:r>
          </a:p>
          <a:p>
            <a:pPr algn="ctr"/>
            <a:r>
              <a:rPr lang="en-CA" sz="1200" dirty="0">
                <a:solidFill>
                  <a:schemeClr val="tx1"/>
                </a:solidFill>
              </a:rPr>
              <a:t>Either:  </a:t>
            </a:r>
          </a:p>
          <a:p>
            <a:pPr algn="ctr"/>
            <a:r>
              <a:rPr lang="en-CA" sz="1200" dirty="0">
                <a:solidFill>
                  <a:schemeClr val="tx1"/>
                </a:solidFill>
              </a:rPr>
              <a:t>111  and 113</a:t>
            </a:r>
          </a:p>
          <a:p>
            <a:pPr algn="ctr"/>
            <a:r>
              <a:rPr lang="en-CA" sz="1200" dirty="0">
                <a:solidFill>
                  <a:schemeClr val="tx1"/>
                </a:solidFill>
              </a:rPr>
              <a:t>Or</a:t>
            </a:r>
          </a:p>
          <a:p>
            <a:pPr algn="ctr"/>
            <a:r>
              <a:rPr lang="en-CA" sz="1200" dirty="0">
                <a:solidFill>
                  <a:schemeClr val="tx1"/>
                </a:solidFill>
              </a:rPr>
              <a:t>121 and </a:t>
            </a:r>
            <a:r>
              <a:rPr lang="en-CA" sz="1200" dirty="0" smtClean="0">
                <a:solidFill>
                  <a:schemeClr val="tx1"/>
                </a:solidFill>
              </a:rPr>
              <a:t>123</a:t>
            </a:r>
            <a:endParaRPr lang="en-CA" sz="1200" dirty="0">
              <a:solidFill>
                <a:schemeClr val="tx1"/>
              </a:solidFill>
            </a:endParaRPr>
          </a:p>
        </p:txBody>
      </p:sp>
      <p:sp>
        <p:nvSpPr>
          <p:cNvPr id="175" name="Rectangle 174"/>
          <p:cNvSpPr/>
          <p:nvPr/>
        </p:nvSpPr>
        <p:spPr>
          <a:xfrm>
            <a:off x="1015362" y="9689386"/>
            <a:ext cx="2118996" cy="1377416"/>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Physics:</a:t>
            </a:r>
          </a:p>
          <a:p>
            <a:pPr algn="ctr"/>
            <a:r>
              <a:rPr lang="en-CA" sz="1200" dirty="0" smtClean="0">
                <a:solidFill>
                  <a:schemeClr val="tx1"/>
                </a:solidFill>
              </a:rPr>
              <a:t>Either  </a:t>
            </a:r>
            <a:endParaRPr lang="en-CA" sz="1200" dirty="0">
              <a:solidFill>
                <a:schemeClr val="tx1"/>
              </a:solidFill>
            </a:endParaRPr>
          </a:p>
          <a:p>
            <a:pPr marL="228600" indent="-228600" algn="ctr">
              <a:buAutoNum type="arabicPlain" startAt="111"/>
            </a:pPr>
            <a:r>
              <a:rPr lang="en-CA" sz="1200" dirty="0" smtClean="0">
                <a:solidFill>
                  <a:schemeClr val="tx1"/>
                </a:solidFill>
              </a:rPr>
              <a:t> and 121 </a:t>
            </a:r>
          </a:p>
          <a:p>
            <a:pPr algn="ctr"/>
            <a:r>
              <a:rPr lang="en-CA" sz="1200" dirty="0" smtClean="0">
                <a:solidFill>
                  <a:schemeClr val="tx1"/>
                </a:solidFill>
              </a:rPr>
              <a:t>Physics for Physical Sciences</a:t>
            </a:r>
            <a:endParaRPr lang="en-CA" sz="1200" dirty="0">
              <a:solidFill>
                <a:schemeClr val="tx1"/>
              </a:solidFill>
            </a:endParaRPr>
          </a:p>
          <a:p>
            <a:pPr algn="ctr"/>
            <a:r>
              <a:rPr lang="en-CA" sz="1200" dirty="0" smtClean="0">
                <a:solidFill>
                  <a:schemeClr val="tx1"/>
                </a:solidFill>
              </a:rPr>
              <a:t>Or</a:t>
            </a:r>
          </a:p>
          <a:p>
            <a:pPr algn="ctr"/>
            <a:r>
              <a:rPr lang="en-CA" sz="1200" dirty="0" smtClean="0">
                <a:solidFill>
                  <a:schemeClr val="tx1"/>
                </a:solidFill>
              </a:rPr>
              <a:t>112 and 122</a:t>
            </a:r>
          </a:p>
          <a:p>
            <a:pPr algn="ctr"/>
            <a:r>
              <a:rPr lang="en-CA" sz="1200" dirty="0" smtClean="0">
                <a:solidFill>
                  <a:schemeClr val="tx1"/>
                </a:solidFill>
              </a:rPr>
              <a:t> Physics for the Life Sciences</a:t>
            </a:r>
          </a:p>
        </p:txBody>
      </p:sp>
      <p:sp>
        <p:nvSpPr>
          <p:cNvPr id="190" name="Rectangle 189"/>
          <p:cNvSpPr/>
          <p:nvPr/>
        </p:nvSpPr>
        <p:spPr>
          <a:xfrm>
            <a:off x="14217163" y="13573733"/>
            <a:ext cx="1504182" cy="266245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General Elective Requirement #1</a:t>
            </a:r>
            <a:endParaRPr lang="en-CA" sz="1200" dirty="0" smtClean="0">
              <a:solidFill>
                <a:schemeClr val="tx1"/>
              </a:solidFill>
            </a:endParaRPr>
          </a:p>
          <a:p>
            <a:pPr algn="ctr"/>
            <a:endParaRPr lang="en-CA" sz="1200" dirty="0">
              <a:solidFill>
                <a:schemeClr val="tx1"/>
              </a:solidFill>
            </a:endParaRPr>
          </a:p>
          <a:p>
            <a:pPr algn="ctr"/>
            <a:r>
              <a:rPr lang="en-CA" sz="1200" dirty="0" smtClean="0">
                <a:solidFill>
                  <a:schemeClr val="tx1"/>
                </a:solidFill>
              </a:rPr>
              <a:t>Suggested EESC 342  if not taken </a:t>
            </a:r>
            <a:r>
              <a:rPr lang="en-CA" sz="1200" dirty="0" smtClean="0">
                <a:solidFill>
                  <a:schemeClr val="tx1"/>
                </a:solidFill>
              </a:rPr>
              <a:t>above</a:t>
            </a:r>
          </a:p>
          <a:p>
            <a:pPr algn="ctr"/>
            <a:endParaRPr lang="en-CA" sz="1200" dirty="0" smtClean="0">
              <a:solidFill>
                <a:schemeClr val="tx1"/>
              </a:solidFill>
            </a:endParaRPr>
          </a:p>
          <a:p>
            <a:pPr algn="ctr"/>
            <a:r>
              <a:rPr lang="en-CA" sz="1200" dirty="0" smtClean="0">
                <a:solidFill>
                  <a:schemeClr val="tx1"/>
                </a:solidFill>
              </a:rPr>
              <a:t>Between </a:t>
            </a:r>
            <a:r>
              <a:rPr lang="en-CA" sz="1200" dirty="0">
                <a:solidFill>
                  <a:schemeClr val="tx1"/>
                </a:solidFill>
              </a:rPr>
              <a:t>Non-Science and General Electives, 6 credits must by u/l.</a:t>
            </a:r>
          </a:p>
          <a:p>
            <a:pPr algn="ctr"/>
            <a:endParaRPr lang="en-CA" sz="1200" dirty="0">
              <a:solidFill>
                <a:schemeClr val="tx1"/>
              </a:solidFill>
            </a:endParaRPr>
          </a:p>
        </p:txBody>
      </p:sp>
      <p:sp>
        <p:nvSpPr>
          <p:cNvPr id="191" name="Rectangle 190"/>
          <p:cNvSpPr/>
          <p:nvPr/>
        </p:nvSpPr>
        <p:spPr>
          <a:xfrm>
            <a:off x="15894335" y="13573734"/>
            <a:ext cx="1504182" cy="266245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General </a:t>
            </a:r>
            <a:r>
              <a:rPr lang="en-CA" sz="1200" dirty="0" smtClean="0">
                <a:solidFill>
                  <a:schemeClr val="tx1"/>
                </a:solidFill>
              </a:rPr>
              <a:t>Elective </a:t>
            </a:r>
            <a:r>
              <a:rPr lang="en-CA" sz="1200" dirty="0">
                <a:solidFill>
                  <a:schemeClr val="tx1"/>
                </a:solidFill>
              </a:rPr>
              <a:t>Requirement </a:t>
            </a:r>
            <a:r>
              <a:rPr lang="en-CA" sz="1200" dirty="0" smtClean="0">
                <a:solidFill>
                  <a:schemeClr val="tx1"/>
                </a:solidFill>
              </a:rPr>
              <a:t>(#3)</a:t>
            </a:r>
            <a:endParaRPr lang="en-CA" sz="1200" dirty="0">
              <a:solidFill>
                <a:schemeClr val="tx1"/>
              </a:solidFill>
            </a:endParaRPr>
          </a:p>
          <a:p>
            <a:pPr algn="ctr"/>
            <a:r>
              <a:rPr lang="en-CA" sz="1200" dirty="0">
                <a:solidFill>
                  <a:schemeClr val="tx1"/>
                </a:solidFill>
              </a:rPr>
              <a:t>Between Non-Science and General Electives, 6 credits must by u/l.</a:t>
            </a:r>
          </a:p>
        </p:txBody>
      </p:sp>
      <p:sp>
        <p:nvSpPr>
          <p:cNvPr id="192" name="Rectangle 191"/>
          <p:cNvSpPr/>
          <p:nvPr/>
        </p:nvSpPr>
        <p:spPr>
          <a:xfrm>
            <a:off x="14217163" y="16508423"/>
            <a:ext cx="1504182" cy="185007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General Elective Requirement (#2)</a:t>
            </a:r>
          </a:p>
          <a:p>
            <a:pPr algn="ctr"/>
            <a:r>
              <a:rPr lang="en-CA" sz="1200" dirty="0">
                <a:solidFill>
                  <a:schemeClr val="tx1"/>
                </a:solidFill>
              </a:rPr>
              <a:t>Between Non-Science and General Electives, 6 credits must by u/l.</a:t>
            </a:r>
          </a:p>
          <a:p>
            <a:pPr algn="ctr"/>
            <a:r>
              <a:rPr lang="en-CA" sz="1200" dirty="0" smtClean="0">
                <a:solidFill>
                  <a:schemeClr val="tx1"/>
                </a:solidFill>
              </a:rPr>
              <a:t> </a:t>
            </a:r>
            <a:endParaRPr lang="en-CA" sz="1200" dirty="0">
              <a:solidFill>
                <a:schemeClr val="tx1"/>
              </a:solidFill>
            </a:endParaRPr>
          </a:p>
        </p:txBody>
      </p:sp>
      <p:sp>
        <p:nvSpPr>
          <p:cNvPr id="193" name="Rectangle 192"/>
          <p:cNvSpPr/>
          <p:nvPr/>
        </p:nvSpPr>
        <p:spPr>
          <a:xfrm>
            <a:off x="15894335" y="16506711"/>
            <a:ext cx="1504182" cy="183563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General Elective Requirement </a:t>
            </a:r>
            <a:r>
              <a:rPr lang="en-CA" sz="1200" dirty="0" smtClean="0">
                <a:solidFill>
                  <a:schemeClr val="tx1"/>
                </a:solidFill>
              </a:rPr>
              <a:t>(#4)</a:t>
            </a:r>
            <a:endParaRPr lang="en-CA" sz="1200" dirty="0">
              <a:solidFill>
                <a:schemeClr val="tx1"/>
              </a:solidFill>
            </a:endParaRPr>
          </a:p>
          <a:p>
            <a:pPr algn="ctr"/>
            <a:r>
              <a:rPr lang="en-CA" sz="1200" dirty="0">
                <a:solidFill>
                  <a:schemeClr val="tx1"/>
                </a:solidFill>
              </a:rPr>
              <a:t>Between Non-Science and General Electives, 6 credits</a:t>
            </a:r>
            <a:endParaRPr lang="en-CA" sz="1200" dirty="0">
              <a:solidFill>
                <a:schemeClr val="tx1"/>
              </a:solidFill>
            </a:endParaRPr>
          </a:p>
        </p:txBody>
      </p:sp>
      <p:sp>
        <p:nvSpPr>
          <p:cNvPr id="91" name="TextBox 90"/>
          <p:cNvSpPr txBox="1"/>
          <p:nvPr/>
        </p:nvSpPr>
        <p:spPr>
          <a:xfrm>
            <a:off x="13376856" y="29839758"/>
            <a:ext cx="6539140" cy="646331"/>
          </a:xfrm>
          <a:prstGeom prst="rect">
            <a:avLst/>
          </a:prstGeom>
          <a:noFill/>
        </p:spPr>
        <p:txBody>
          <a:bodyPr wrap="square" rtlCol="0">
            <a:spAutoFit/>
          </a:bodyPr>
          <a:lstStyle/>
          <a:p>
            <a:pPr marL="355600" indent="-355600"/>
            <a:r>
              <a:rPr lang="en-CA" sz="1200" dirty="0" smtClean="0"/>
              <a:t>Note: 2020 Version 1.  Last Updated May 4, 2020:  Every effort has been made to make this accurate</a:t>
            </a:r>
            <a:r>
              <a:rPr lang="en-CA" sz="1200" dirty="0"/>
              <a:t>. The UBC Calendar </a:t>
            </a:r>
            <a:r>
              <a:rPr lang="en-CA" sz="1200" dirty="0" smtClean="0"/>
              <a:t>requirements </a:t>
            </a:r>
            <a:r>
              <a:rPr lang="en-CA" sz="1200" dirty="0"/>
              <a:t>are the final word. </a:t>
            </a:r>
            <a:r>
              <a:rPr lang="en-CA" sz="1200" dirty="0" smtClean="0"/>
              <a:t>Please report any errors or questions to Craig.Nichol@ubc.ca</a:t>
            </a:r>
            <a:endParaRPr lang="en-CA" sz="1200" dirty="0"/>
          </a:p>
        </p:txBody>
      </p:sp>
      <p:cxnSp>
        <p:nvCxnSpPr>
          <p:cNvPr id="92" name="Straight Arrow Connector 91"/>
          <p:cNvCxnSpPr>
            <a:stCxn id="184" idx="3"/>
            <a:endCxn id="204" idx="1"/>
          </p:cNvCxnSpPr>
          <p:nvPr/>
        </p:nvCxnSpPr>
        <p:spPr>
          <a:xfrm flipV="1">
            <a:off x="7348319" y="8230937"/>
            <a:ext cx="2758777" cy="473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174" idx="3"/>
            <a:endCxn id="133" idx="1"/>
          </p:cNvCxnSpPr>
          <p:nvPr/>
        </p:nvCxnSpPr>
        <p:spPr>
          <a:xfrm>
            <a:off x="3142060" y="11780654"/>
            <a:ext cx="956605" cy="2794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987034" y="16943031"/>
            <a:ext cx="3409416" cy="319449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p:cNvSpPr/>
          <p:nvPr/>
        </p:nvSpPr>
        <p:spPr>
          <a:xfrm>
            <a:off x="4914639" y="16975599"/>
            <a:ext cx="1554208" cy="307777"/>
          </a:xfrm>
          <a:prstGeom prst="rect">
            <a:avLst/>
          </a:prstGeom>
        </p:spPr>
        <p:txBody>
          <a:bodyPr wrap="none">
            <a:spAutoFit/>
          </a:bodyPr>
          <a:lstStyle/>
          <a:p>
            <a:pPr algn="ctr"/>
            <a:r>
              <a:rPr lang="en-CA" sz="1400" dirty="0" smtClean="0"/>
              <a:t>See Note #1 below</a:t>
            </a:r>
            <a:endParaRPr lang="en-CA" sz="1400" dirty="0"/>
          </a:p>
        </p:txBody>
      </p:sp>
      <p:sp>
        <p:nvSpPr>
          <p:cNvPr id="90" name="Rectangle 89"/>
          <p:cNvSpPr/>
          <p:nvPr/>
        </p:nvSpPr>
        <p:spPr>
          <a:xfrm>
            <a:off x="17981371" y="6295174"/>
            <a:ext cx="1437368"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May after </a:t>
            </a:r>
            <a:r>
              <a:rPr lang="en-CA" sz="2000" b="1" dirty="0" smtClean="0">
                <a:solidFill>
                  <a:schemeClr val="bg1"/>
                </a:solidFill>
              </a:rPr>
              <a:t>4th </a:t>
            </a:r>
            <a:r>
              <a:rPr lang="en-CA" sz="2000" b="1" dirty="0">
                <a:solidFill>
                  <a:schemeClr val="bg1"/>
                </a:solidFill>
              </a:rPr>
              <a:t>year</a:t>
            </a:r>
          </a:p>
        </p:txBody>
      </p:sp>
      <p:sp>
        <p:nvSpPr>
          <p:cNvPr id="93" name="Rectangle 92"/>
          <p:cNvSpPr/>
          <p:nvPr/>
        </p:nvSpPr>
        <p:spPr>
          <a:xfrm>
            <a:off x="17947874" y="7638040"/>
            <a:ext cx="1536937" cy="24928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Suggested:</a:t>
            </a:r>
            <a:br>
              <a:rPr lang="en-CA" sz="1200" dirty="0" smtClean="0">
                <a:solidFill>
                  <a:schemeClr val="tx1"/>
                </a:solidFill>
              </a:rPr>
            </a:br>
            <a:r>
              <a:rPr lang="en-CA" sz="1200" dirty="0" smtClean="0">
                <a:solidFill>
                  <a:schemeClr val="tx1"/>
                </a:solidFill>
              </a:rPr>
              <a:t>EESC 435 Fluvial Field Techniques</a:t>
            </a:r>
          </a:p>
          <a:p>
            <a:pPr algn="ctr"/>
            <a:r>
              <a:rPr lang="en-CA" sz="1200" dirty="0" smtClean="0">
                <a:solidFill>
                  <a:schemeClr val="tx1"/>
                </a:solidFill>
              </a:rPr>
              <a:t>(205 or 222)</a:t>
            </a:r>
          </a:p>
          <a:p>
            <a:pPr algn="ctr"/>
            <a:endParaRPr lang="en-CA" sz="1200" dirty="0" smtClean="0">
              <a:solidFill>
                <a:schemeClr val="tx1"/>
              </a:solidFill>
            </a:endParaRPr>
          </a:p>
          <a:p>
            <a:pPr algn="ctr"/>
            <a:r>
              <a:rPr lang="en-CA" sz="1200" dirty="0" smtClean="0">
                <a:solidFill>
                  <a:schemeClr val="tx1"/>
                </a:solidFill>
              </a:rPr>
              <a:t>Note: </a:t>
            </a:r>
            <a:r>
              <a:rPr lang="en-CA" sz="1200" dirty="0">
                <a:solidFill>
                  <a:schemeClr val="tx1"/>
                </a:solidFill>
              </a:rPr>
              <a:t>Note: Better taken after 4</a:t>
            </a:r>
            <a:r>
              <a:rPr lang="en-CA" sz="1200" baseline="30000" dirty="0">
                <a:solidFill>
                  <a:schemeClr val="tx1"/>
                </a:solidFill>
              </a:rPr>
              <a:t>th</a:t>
            </a:r>
            <a:r>
              <a:rPr lang="en-CA" sz="1200" dirty="0">
                <a:solidFill>
                  <a:schemeClr val="tx1"/>
                </a:solidFill>
              </a:rPr>
              <a:t> year and with EESC 422. Advance </a:t>
            </a:r>
            <a:r>
              <a:rPr lang="en-CA" sz="1200" dirty="0" smtClean="0">
                <a:solidFill>
                  <a:schemeClr val="tx1"/>
                </a:solidFill>
              </a:rPr>
              <a:t>notice to department required  if credits are required for graduation in that year.  </a:t>
            </a:r>
          </a:p>
        </p:txBody>
      </p:sp>
      <p:sp>
        <p:nvSpPr>
          <p:cNvPr id="95" name="Rectangle 94"/>
          <p:cNvSpPr/>
          <p:nvPr/>
        </p:nvSpPr>
        <p:spPr>
          <a:xfrm>
            <a:off x="2842731" y="21919014"/>
            <a:ext cx="1549707" cy="903153"/>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Transfer students double check any transfer credits with program advisor.</a:t>
            </a:r>
            <a:endParaRPr lang="en-CA" sz="1200" dirty="0">
              <a:solidFill>
                <a:schemeClr val="tx1"/>
              </a:solidFill>
            </a:endParaRPr>
          </a:p>
        </p:txBody>
      </p:sp>
      <p:sp>
        <p:nvSpPr>
          <p:cNvPr id="96" name="Rectangle 95"/>
          <p:cNvSpPr/>
          <p:nvPr/>
        </p:nvSpPr>
        <p:spPr>
          <a:xfrm>
            <a:off x="818261" y="21827334"/>
            <a:ext cx="1364624" cy="1057609"/>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Contact Program Advisor: Check any advanced placement credits</a:t>
            </a:r>
            <a:endParaRPr lang="en-CA" sz="1200" dirty="0">
              <a:solidFill>
                <a:schemeClr val="tx1"/>
              </a:solidFill>
            </a:endParaRPr>
          </a:p>
        </p:txBody>
      </p:sp>
      <p:sp>
        <p:nvSpPr>
          <p:cNvPr id="98" name="Rectangle 97"/>
          <p:cNvSpPr/>
          <p:nvPr/>
        </p:nvSpPr>
        <p:spPr>
          <a:xfrm>
            <a:off x="15965225" y="20755131"/>
            <a:ext cx="1456148" cy="1358187"/>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Apply for UBC Graduation by mid to late February</a:t>
            </a:r>
          </a:p>
        </p:txBody>
      </p:sp>
      <p:sp>
        <p:nvSpPr>
          <p:cNvPr id="94" name="Rectangle 93"/>
          <p:cNvSpPr/>
          <p:nvPr/>
        </p:nvSpPr>
        <p:spPr>
          <a:xfrm>
            <a:off x="5744532" y="17251450"/>
            <a:ext cx="1651917" cy="28256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CA" sz="1200" dirty="0" smtClean="0">
                <a:solidFill>
                  <a:schemeClr val="tx1"/>
                </a:solidFill>
              </a:rPr>
              <a:t>One of:</a:t>
            </a:r>
          </a:p>
        </p:txBody>
      </p:sp>
      <p:sp>
        <p:nvSpPr>
          <p:cNvPr id="99" name="Rectangle 98"/>
          <p:cNvSpPr/>
          <p:nvPr/>
        </p:nvSpPr>
        <p:spPr>
          <a:xfrm>
            <a:off x="5789226" y="18790642"/>
            <a:ext cx="1534640" cy="119915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3 Credits Non Science Elective Requirement</a:t>
            </a:r>
          </a:p>
          <a:p>
            <a:pPr algn="ctr"/>
            <a:r>
              <a:rPr lang="en-CA" sz="1200" dirty="0" smtClean="0">
                <a:solidFill>
                  <a:schemeClr val="tx1"/>
                </a:solidFill>
              </a:rPr>
              <a:t>#2</a:t>
            </a:r>
          </a:p>
          <a:p>
            <a:pPr algn="ctr"/>
            <a:endParaRPr lang="en-CA" sz="1200" dirty="0">
              <a:solidFill>
                <a:schemeClr val="tx1"/>
              </a:solidFill>
            </a:endParaRPr>
          </a:p>
        </p:txBody>
      </p:sp>
      <p:sp>
        <p:nvSpPr>
          <p:cNvPr id="100" name="Rectangle 99"/>
          <p:cNvSpPr/>
          <p:nvPr/>
        </p:nvSpPr>
        <p:spPr>
          <a:xfrm>
            <a:off x="8538178" y="17340170"/>
            <a:ext cx="2947491" cy="536944"/>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EESC 212 Atmospheric </a:t>
            </a:r>
            <a:r>
              <a:rPr lang="en-CA" sz="1200" dirty="0" smtClean="0">
                <a:solidFill>
                  <a:schemeClr val="tx1"/>
                </a:solidFill>
              </a:rPr>
              <a:t>Environments</a:t>
            </a:r>
          </a:p>
          <a:p>
            <a:pPr algn="ctr"/>
            <a:r>
              <a:rPr lang="en-CA" sz="1200" dirty="0" smtClean="0">
                <a:solidFill>
                  <a:schemeClr val="tx1"/>
                </a:solidFill>
              </a:rPr>
              <a:t> (Two of EESC 101,  111</a:t>
            </a:r>
            <a:r>
              <a:rPr lang="en-CA" sz="1200" dirty="0">
                <a:solidFill>
                  <a:schemeClr val="tx1"/>
                </a:solidFill>
              </a:rPr>
              <a:t>, 121</a:t>
            </a:r>
            <a:r>
              <a:rPr lang="en-CA" sz="1200" dirty="0" smtClean="0">
                <a:solidFill>
                  <a:schemeClr val="tx1"/>
                </a:solidFill>
              </a:rPr>
              <a:t>)</a:t>
            </a:r>
          </a:p>
        </p:txBody>
      </p:sp>
      <p:sp>
        <p:nvSpPr>
          <p:cNvPr id="101" name="Rectangle 100"/>
          <p:cNvSpPr/>
          <p:nvPr/>
        </p:nvSpPr>
        <p:spPr>
          <a:xfrm>
            <a:off x="8408143" y="17085602"/>
            <a:ext cx="3210953" cy="14924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CA" sz="1200" dirty="0" smtClean="0">
                <a:solidFill>
                  <a:schemeClr val="tx1"/>
                </a:solidFill>
              </a:rPr>
              <a:t>One of:</a:t>
            </a:r>
          </a:p>
        </p:txBody>
      </p:sp>
      <p:sp>
        <p:nvSpPr>
          <p:cNvPr id="102" name="Rectangle 101"/>
          <p:cNvSpPr/>
          <p:nvPr/>
        </p:nvSpPr>
        <p:spPr>
          <a:xfrm>
            <a:off x="8537313" y="17927977"/>
            <a:ext cx="2948355" cy="5921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smtClean="0">
                <a:solidFill>
                  <a:schemeClr val="tx1"/>
                </a:solidFill>
              </a:rPr>
              <a:t>3 Credits Non Science Elective Requirement</a:t>
            </a:r>
          </a:p>
          <a:p>
            <a:pPr algn="ctr"/>
            <a:r>
              <a:rPr lang="en-CA" sz="1200" dirty="0" smtClean="0">
                <a:solidFill>
                  <a:schemeClr val="tx1"/>
                </a:solidFill>
              </a:rPr>
              <a:t>#2</a:t>
            </a:r>
            <a:endParaRPr lang="en-CA" sz="1200" dirty="0">
              <a:solidFill>
                <a:schemeClr val="tx1"/>
              </a:solidFill>
            </a:endParaRPr>
          </a:p>
        </p:txBody>
      </p:sp>
    </p:spTree>
    <p:extLst>
      <p:ext uri="{BB962C8B-B14F-4D97-AF65-F5344CB8AC3E}">
        <p14:creationId xmlns:p14="http://schemas.microsoft.com/office/powerpoint/2010/main" val="13136348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21320</TotalTime>
  <Words>1433</Words>
  <Application>Microsoft Office PowerPoint</Application>
  <PresentationFormat>Custom</PresentationFormat>
  <Paragraphs>167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UBC Okanagan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cnichol</dc:creator>
  <cp:lastModifiedBy>cnichol</cp:lastModifiedBy>
  <cp:revision>122</cp:revision>
  <cp:lastPrinted>2019-12-12T16:47:44Z</cp:lastPrinted>
  <dcterms:created xsi:type="dcterms:W3CDTF">2017-02-04T00:40:08Z</dcterms:created>
  <dcterms:modified xsi:type="dcterms:W3CDTF">2020-05-04T21:20:42Z</dcterms:modified>
</cp:coreProperties>
</file>